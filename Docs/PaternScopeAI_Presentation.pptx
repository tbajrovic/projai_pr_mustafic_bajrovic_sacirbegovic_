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Light" charset="1" panose="00000400000000000000"/>
      <p:regular r:id="rId16"/>
    </p:embeddedFont>
    <p:embeddedFont>
      <p:font typeface="Computer Says No" charset="1" panose="000004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5.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pn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26.png" Type="http://schemas.openxmlformats.org/officeDocument/2006/relationships/image"/><Relationship Id="rId5"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3916" r="0" b="-86898"/>
            </a:stretch>
          </a:blipFill>
        </p:spPr>
      </p:sp>
      <p:sp>
        <p:nvSpPr>
          <p:cNvPr name="Freeform 3" id="3"/>
          <p:cNvSpPr/>
          <p:nvPr/>
        </p:nvSpPr>
        <p:spPr>
          <a:xfrm flipH="false" flipV="false" rot="0">
            <a:off x="-2576678" y="6172200"/>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3268070" y="-2818506"/>
            <a:ext cx="4825046" cy="4219769"/>
          </a:xfrm>
          <a:custGeom>
            <a:avLst/>
            <a:gdLst/>
            <a:ahLst/>
            <a:cxnLst/>
            <a:rect r="r" b="b" t="t" l="l"/>
            <a:pathLst>
              <a:path h="4219769" w="4825046">
                <a:moveTo>
                  <a:pt x="0" y="0"/>
                </a:moveTo>
                <a:lnTo>
                  <a:pt x="4825046" y="0"/>
                </a:lnTo>
                <a:lnTo>
                  <a:pt x="4825046" y="4219769"/>
                </a:lnTo>
                <a:lnTo>
                  <a:pt x="0" y="4219769"/>
                </a:lnTo>
                <a:lnTo>
                  <a:pt x="0" y="0"/>
                </a:lnTo>
                <a:close/>
              </a:path>
            </a:pathLst>
          </a:custGeom>
          <a:blipFill>
            <a:blip r:embed="rId4"/>
            <a:stretch>
              <a:fillRect l="0" t="0" r="0" b="0"/>
            </a:stretch>
          </a:blipFill>
        </p:spPr>
      </p:sp>
      <p:sp>
        <p:nvSpPr>
          <p:cNvPr name="Freeform 5" id="5"/>
          <p:cNvSpPr/>
          <p:nvPr/>
        </p:nvSpPr>
        <p:spPr>
          <a:xfrm flipH="false" flipV="false" rot="0">
            <a:off x="14161481" y="-4114800"/>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3"/>
            <a:stretch>
              <a:fillRect l="0" t="0" r="0" b="0"/>
            </a:stretch>
          </a:blipFill>
        </p:spPr>
      </p:sp>
      <p:sp>
        <p:nvSpPr>
          <p:cNvPr name="TextBox 6" id="6"/>
          <p:cNvSpPr txBox="true"/>
          <p:nvPr/>
        </p:nvSpPr>
        <p:spPr>
          <a:xfrm rot="0">
            <a:off x="2850925" y="6497858"/>
            <a:ext cx="6926813" cy="1443232"/>
          </a:xfrm>
          <a:prstGeom prst="rect">
            <a:avLst/>
          </a:prstGeom>
        </p:spPr>
        <p:txBody>
          <a:bodyPr anchor="t" rtlCol="false" tIns="0" lIns="0" bIns="0" rIns="0">
            <a:spAutoFit/>
          </a:bodyPr>
          <a:lstStyle/>
          <a:p>
            <a:pPr algn="ctr">
              <a:lnSpc>
                <a:spcPts val="3799"/>
              </a:lnSpc>
            </a:pPr>
            <a:r>
              <a:rPr lang="en-US" sz="2714">
                <a:solidFill>
                  <a:srgbClr val="6866E1"/>
                </a:solidFill>
                <a:latin typeface="Poppins Light"/>
                <a:ea typeface="Poppins Light"/>
                <a:cs typeface="Poppins Light"/>
                <a:sym typeface="Poppins Light"/>
              </a:rPr>
              <a:t>By :  ALMIR MUSTAFIĆ</a:t>
            </a:r>
          </a:p>
          <a:p>
            <a:pPr algn="ctr">
              <a:lnSpc>
                <a:spcPts val="3799"/>
              </a:lnSpc>
            </a:pPr>
            <a:r>
              <a:rPr lang="en-US" sz="2714">
                <a:solidFill>
                  <a:srgbClr val="6866E1"/>
                </a:solidFill>
                <a:latin typeface="Poppins Light"/>
                <a:ea typeface="Poppins Light"/>
                <a:cs typeface="Poppins Light"/>
                <a:sym typeface="Poppins Light"/>
              </a:rPr>
              <a:t>TARIK BAJROVIĆ</a:t>
            </a:r>
          </a:p>
          <a:p>
            <a:pPr algn="ctr">
              <a:lnSpc>
                <a:spcPts val="3799"/>
              </a:lnSpc>
            </a:pPr>
            <a:r>
              <a:rPr lang="en-US" sz="2714">
                <a:solidFill>
                  <a:srgbClr val="6866E1"/>
                </a:solidFill>
                <a:latin typeface="Poppins Light"/>
                <a:ea typeface="Poppins Light"/>
                <a:cs typeface="Poppins Light"/>
                <a:sym typeface="Poppins Light"/>
              </a:rPr>
              <a:t>RIJALDA ŠAĆIRBEGOVIĆ</a:t>
            </a:r>
          </a:p>
        </p:txBody>
      </p:sp>
      <p:sp>
        <p:nvSpPr>
          <p:cNvPr name="Freeform 7" id="7"/>
          <p:cNvSpPr/>
          <p:nvPr/>
        </p:nvSpPr>
        <p:spPr>
          <a:xfrm flipH="false" flipV="false" rot="0">
            <a:off x="-391635" y="1333816"/>
            <a:ext cx="3948234" cy="1724379"/>
          </a:xfrm>
          <a:custGeom>
            <a:avLst/>
            <a:gdLst/>
            <a:ahLst/>
            <a:cxnLst/>
            <a:rect r="r" b="b" t="t" l="l"/>
            <a:pathLst>
              <a:path h="1724379" w="3948234">
                <a:moveTo>
                  <a:pt x="0" y="0"/>
                </a:moveTo>
                <a:lnTo>
                  <a:pt x="3948234" y="0"/>
                </a:lnTo>
                <a:lnTo>
                  <a:pt x="3948234" y="1724379"/>
                </a:lnTo>
                <a:lnTo>
                  <a:pt x="0" y="1724379"/>
                </a:lnTo>
                <a:lnTo>
                  <a:pt x="0" y="0"/>
                </a:lnTo>
                <a:close/>
              </a:path>
            </a:pathLst>
          </a:custGeom>
          <a:blipFill>
            <a:blip r:embed="rId5"/>
            <a:stretch>
              <a:fillRect l="0" t="0" r="0" b="0"/>
            </a:stretch>
          </a:blipFill>
        </p:spPr>
      </p:sp>
      <p:sp>
        <p:nvSpPr>
          <p:cNvPr name="Freeform 8" id="8"/>
          <p:cNvSpPr/>
          <p:nvPr/>
        </p:nvSpPr>
        <p:spPr>
          <a:xfrm flipH="false" flipV="false" rot="0">
            <a:off x="4601689" y="8426785"/>
            <a:ext cx="4729467" cy="4047169"/>
          </a:xfrm>
          <a:custGeom>
            <a:avLst/>
            <a:gdLst/>
            <a:ahLst/>
            <a:cxnLst/>
            <a:rect r="r" b="b" t="t" l="l"/>
            <a:pathLst>
              <a:path h="4047169" w="4729467">
                <a:moveTo>
                  <a:pt x="0" y="0"/>
                </a:moveTo>
                <a:lnTo>
                  <a:pt x="4729467" y="0"/>
                </a:lnTo>
                <a:lnTo>
                  <a:pt x="4729467" y="4047170"/>
                </a:lnTo>
                <a:lnTo>
                  <a:pt x="0" y="4047170"/>
                </a:lnTo>
                <a:lnTo>
                  <a:pt x="0" y="0"/>
                </a:lnTo>
                <a:close/>
              </a:path>
            </a:pathLst>
          </a:custGeom>
          <a:blipFill>
            <a:blip r:embed="rId6"/>
            <a:stretch>
              <a:fillRect l="0" t="0" r="0" b="0"/>
            </a:stretch>
          </a:blipFill>
        </p:spPr>
      </p:sp>
      <p:sp>
        <p:nvSpPr>
          <p:cNvPr name="TextBox 9" id="9"/>
          <p:cNvSpPr txBox="true"/>
          <p:nvPr/>
        </p:nvSpPr>
        <p:spPr>
          <a:xfrm rot="0">
            <a:off x="2489654" y="1731645"/>
            <a:ext cx="8127324" cy="2520605"/>
          </a:xfrm>
          <a:prstGeom prst="rect">
            <a:avLst/>
          </a:prstGeom>
        </p:spPr>
        <p:txBody>
          <a:bodyPr anchor="t" rtlCol="false" tIns="0" lIns="0" bIns="0" rIns="0">
            <a:spAutoFit/>
          </a:bodyPr>
          <a:lstStyle/>
          <a:p>
            <a:pPr algn="ctr">
              <a:lnSpc>
                <a:spcPts val="17048"/>
              </a:lnSpc>
            </a:pPr>
            <a:r>
              <a:rPr lang="en-US" sz="23677">
                <a:solidFill>
                  <a:srgbClr val="6866E1"/>
                </a:solidFill>
                <a:latin typeface="Computer Says No"/>
                <a:ea typeface="Computer Says No"/>
                <a:cs typeface="Computer Says No"/>
                <a:sym typeface="Computer Says No"/>
              </a:rPr>
              <a:t>PROJECT</a:t>
            </a:r>
          </a:p>
        </p:txBody>
      </p:sp>
      <p:sp>
        <p:nvSpPr>
          <p:cNvPr name="TextBox 10" id="10"/>
          <p:cNvSpPr txBox="true"/>
          <p:nvPr/>
        </p:nvSpPr>
        <p:spPr>
          <a:xfrm rot="0">
            <a:off x="2850925" y="3372520"/>
            <a:ext cx="7103952" cy="771668"/>
          </a:xfrm>
          <a:prstGeom prst="rect">
            <a:avLst/>
          </a:prstGeom>
        </p:spPr>
        <p:txBody>
          <a:bodyPr anchor="t" rtlCol="false" tIns="0" lIns="0" bIns="0" rIns="0">
            <a:spAutoFit/>
          </a:bodyPr>
          <a:lstStyle/>
          <a:p>
            <a:pPr algn="ctr">
              <a:lnSpc>
                <a:spcPts val="5147"/>
              </a:lnSpc>
            </a:pPr>
            <a:r>
              <a:rPr lang="en-US" sz="7148">
                <a:solidFill>
                  <a:srgbClr val="6866E1"/>
                </a:solidFill>
                <a:latin typeface="Computer Says No"/>
                <a:ea typeface="Computer Says No"/>
                <a:cs typeface="Computer Says No"/>
                <a:sym typeface="Computer Says No"/>
              </a:rPr>
              <a:t>ARTIFICIAL INTELLIGENCE</a:t>
            </a:r>
          </a:p>
        </p:txBody>
      </p:sp>
      <p:sp>
        <p:nvSpPr>
          <p:cNvPr name="Freeform 11" id="11"/>
          <p:cNvSpPr/>
          <p:nvPr/>
        </p:nvSpPr>
        <p:spPr>
          <a:xfrm flipH="true" flipV="false" rot="0">
            <a:off x="9331156" y="1563451"/>
            <a:ext cx="7573219" cy="8296504"/>
          </a:xfrm>
          <a:custGeom>
            <a:avLst/>
            <a:gdLst/>
            <a:ahLst/>
            <a:cxnLst/>
            <a:rect r="r" b="b" t="t" l="l"/>
            <a:pathLst>
              <a:path h="8296504" w="7573219">
                <a:moveTo>
                  <a:pt x="7573219" y="0"/>
                </a:moveTo>
                <a:lnTo>
                  <a:pt x="0" y="0"/>
                </a:lnTo>
                <a:lnTo>
                  <a:pt x="0" y="8296504"/>
                </a:lnTo>
                <a:lnTo>
                  <a:pt x="7573219" y="8296504"/>
                </a:lnTo>
                <a:lnTo>
                  <a:pt x="7573219"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069">
                <a:alpha val="100000"/>
              </a:srgbClr>
            </a:gs>
            <a:gs pos="50000">
              <a:srgbClr val="5527F5">
                <a:alpha val="100000"/>
              </a:srgbClr>
            </a:gs>
            <a:gs pos="100000">
              <a:srgbClr val="131FA8">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96678" y="1290997"/>
            <a:ext cx="5726139" cy="2500874"/>
          </a:xfrm>
          <a:custGeom>
            <a:avLst/>
            <a:gdLst/>
            <a:ahLst/>
            <a:cxnLst/>
            <a:rect r="r" b="b" t="t" l="l"/>
            <a:pathLst>
              <a:path h="2500874" w="5726139">
                <a:moveTo>
                  <a:pt x="0" y="0"/>
                </a:moveTo>
                <a:lnTo>
                  <a:pt x="5726138" y="0"/>
                </a:lnTo>
                <a:lnTo>
                  <a:pt x="5726138" y="2500874"/>
                </a:lnTo>
                <a:lnTo>
                  <a:pt x="0" y="2500874"/>
                </a:lnTo>
                <a:lnTo>
                  <a:pt x="0" y="0"/>
                </a:lnTo>
                <a:close/>
              </a:path>
            </a:pathLst>
          </a:custGeom>
          <a:blipFill>
            <a:blip r:embed="rId2"/>
            <a:stretch>
              <a:fillRect l="0" t="0" r="0" b="0"/>
            </a:stretch>
          </a:blipFill>
        </p:spPr>
      </p:sp>
      <p:sp>
        <p:nvSpPr>
          <p:cNvPr name="AutoShape 3" id="3"/>
          <p:cNvSpPr/>
          <p:nvPr/>
        </p:nvSpPr>
        <p:spPr>
          <a:xfrm flipH="true" flipV="true">
            <a:off x="17259300" y="1028700"/>
            <a:ext cx="0" cy="5786479"/>
          </a:xfrm>
          <a:prstGeom prst="line">
            <a:avLst/>
          </a:prstGeom>
          <a:ln cap="flat" w="38100">
            <a:solidFill>
              <a:srgbClr val="FFFFFF"/>
            </a:solidFill>
            <a:prstDash val="solid"/>
            <a:headEnd type="none" len="sm" w="sm"/>
            <a:tailEnd type="none" len="sm" w="sm"/>
          </a:ln>
        </p:spPr>
      </p:sp>
      <p:grpSp>
        <p:nvGrpSpPr>
          <p:cNvPr name="Group 4" id="4"/>
          <p:cNvGrpSpPr/>
          <p:nvPr/>
        </p:nvGrpSpPr>
        <p:grpSpPr>
          <a:xfrm rot="0">
            <a:off x="1028700" y="4234201"/>
            <a:ext cx="10037240" cy="5077087"/>
            <a:chOff x="0" y="0"/>
            <a:chExt cx="13382986" cy="6769449"/>
          </a:xfrm>
        </p:grpSpPr>
        <p:sp>
          <p:nvSpPr>
            <p:cNvPr name="AutoShape 5" id="5"/>
            <p:cNvSpPr/>
            <p:nvPr/>
          </p:nvSpPr>
          <p:spPr>
            <a:xfrm flipV="true">
              <a:off x="25759" y="0"/>
              <a:ext cx="0" cy="6769449"/>
            </a:xfrm>
            <a:prstGeom prst="line">
              <a:avLst/>
            </a:prstGeom>
            <a:ln cap="flat" w="51519">
              <a:solidFill>
                <a:srgbClr val="FFFFFF"/>
              </a:solidFill>
              <a:prstDash val="solid"/>
              <a:headEnd type="none" len="sm" w="sm"/>
              <a:tailEnd type="none" len="sm" w="sm"/>
            </a:ln>
          </p:spPr>
        </p:sp>
        <p:sp>
          <p:nvSpPr>
            <p:cNvPr name="AutoShape 6" id="6"/>
            <p:cNvSpPr/>
            <p:nvPr/>
          </p:nvSpPr>
          <p:spPr>
            <a:xfrm>
              <a:off x="0" y="6743690"/>
              <a:ext cx="13382986" cy="0"/>
            </a:xfrm>
            <a:prstGeom prst="line">
              <a:avLst/>
            </a:prstGeom>
            <a:ln cap="flat" w="51519">
              <a:solidFill>
                <a:srgbClr val="FFFFFF"/>
              </a:solidFill>
              <a:prstDash val="solid"/>
              <a:headEnd type="none" len="sm" w="sm"/>
              <a:tailEnd type="none" len="sm" w="sm"/>
            </a:ln>
          </p:spPr>
        </p:sp>
      </p:grpSp>
      <p:sp>
        <p:nvSpPr>
          <p:cNvPr name="Freeform 7" id="7"/>
          <p:cNvSpPr/>
          <p:nvPr/>
        </p:nvSpPr>
        <p:spPr>
          <a:xfrm flipH="false" flipV="false" rot="0">
            <a:off x="10925932" y="5660310"/>
            <a:ext cx="6819964" cy="5836080"/>
          </a:xfrm>
          <a:custGeom>
            <a:avLst/>
            <a:gdLst/>
            <a:ahLst/>
            <a:cxnLst/>
            <a:rect r="r" b="b" t="t" l="l"/>
            <a:pathLst>
              <a:path h="5836080" w="6819964">
                <a:moveTo>
                  <a:pt x="0" y="0"/>
                </a:moveTo>
                <a:lnTo>
                  <a:pt x="6819964" y="0"/>
                </a:lnTo>
                <a:lnTo>
                  <a:pt x="6819964" y="5836081"/>
                </a:lnTo>
                <a:lnTo>
                  <a:pt x="0" y="5836081"/>
                </a:lnTo>
                <a:lnTo>
                  <a:pt x="0" y="0"/>
                </a:lnTo>
                <a:close/>
              </a:path>
            </a:pathLst>
          </a:custGeom>
          <a:blipFill>
            <a:blip r:embed="rId3"/>
            <a:stretch>
              <a:fillRect l="0" t="0" r="0" b="0"/>
            </a:stretch>
          </a:blipFill>
        </p:spPr>
      </p:sp>
      <p:sp>
        <p:nvSpPr>
          <p:cNvPr name="TextBox 8" id="8"/>
          <p:cNvSpPr txBox="true"/>
          <p:nvPr/>
        </p:nvSpPr>
        <p:spPr>
          <a:xfrm rot="0">
            <a:off x="4829460" y="1833922"/>
            <a:ext cx="5353298" cy="2362179"/>
          </a:xfrm>
          <a:prstGeom prst="rect">
            <a:avLst/>
          </a:prstGeom>
        </p:spPr>
        <p:txBody>
          <a:bodyPr anchor="t" rtlCol="false" tIns="0" lIns="0" bIns="0" rIns="0">
            <a:spAutoFit/>
          </a:bodyPr>
          <a:lstStyle/>
          <a:p>
            <a:pPr algn="ctr" marL="0" indent="0" lvl="0">
              <a:lnSpc>
                <a:spcPts val="8583"/>
              </a:lnSpc>
              <a:spcBef>
                <a:spcPct val="0"/>
              </a:spcBef>
            </a:pPr>
            <a:r>
              <a:rPr lang="en-US" sz="11922">
                <a:solidFill>
                  <a:srgbClr val="6866E1"/>
                </a:solidFill>
                <a:latin typeface="Computer Says No"/>
                <a:ea typeface="Computer Says No"/>
                <a:cs typeface="Computer Says No"/>
                <a:sym typeface="Computer Says No"/>
              </a:rPr>
              <a:t>TABLE OF CONTENTS</a:t>
            </a:r>
          </a:p>
        </p:txBody>
      </p:sp>
      <p:sp>
        <p:nvSpPr>
          <p:cNvPr name="TextBox 9" id="9"/>
          <p:cNvSpPr txBox="true"/>
          <p:nvPr/>
        </p:nvSpPr>
        <p:spPr>
          <a:xfrm rot="0">
            <a:off x="1306128" y="3970990"/>
            <a:ext cx="6508656" cy="5195068"/>
          </a:xfrm>
          <a:prstGeom prst="rect">
            <a:avLst/>
          </a:prstGeom>
        </p:spPr>
        <p:txBody>
          <a:bodyPr anchor="t" rtlCol="false" tIns="0" lIns="0" bIns="0" rIns="0">
            <a:spAutoFit/>
          </a:bodyPr>
          <a:lstStyle/>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About the Project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Technology Stack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Datasets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Algorithms &amp; Models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How the algorithms work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Problem &amp; Market Opportunity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Target Customers </a:t>
            </a:r>
          </a:p>
          <a:p>
            <a:pPr algn="l" marL="702127" indent="-351063" lvl="1">
              <a:lnSpc>
                <a:spcPts val="4552"/>
              </a:lnSpc>
              <a:buFont typeface="Arial"/>
              <a:buChar char="•"/>
            </a:pPr>
            <a:r>
              <a:rPr lang="en-US" sz="3252">
                <a:solidFill>
                  <a:srgbClr val="FFFFFF"/>
                </a:solidFill>
                <a:latin typeface="Poppins Light"/>
                <a:ea typeface="Poppins Light"/>
                <a:cs typeface="Poppins Light"/>
                <a:sym typeface="Poppins Light"/>
              </a:rPr>
              <a:t>Competitive Advantage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FA8">
                <a:alpha val="100000"/>
              </a:srgbClr>
            </a:gs>
            <a:gs pos="50000">
              <a:srgbClr val="5527F5">
                <a:alpha val="100000"/>
              </a:srgbClr>
            </a:gs>
            <a:gs pos="100000">
              <a:srgbClr val="9B60EB">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707851" y="1222001"/>
            <a:ext cx="8551449" cy="6896330"/>
          </a:xfrm>
          <a:custGeom>
            <a:avLst/>
            <a:gdLst/>
            <a:ahLst/>
            <a:cxnLst/>
            <a:rect r="r" b="b" t="t" l="l"/>
            <a:pathLst>
              <a:path h="6896330" w="8551449">
                <a:moveTo>
                  <a:pt x="0" y="0"/>
                </a:moveTo>
                <a:lnTo>
                  <a:pt x="8551449" y="0"/>
                </a:lnTo>
                <a:lnTo>
                  <a:pt x="8551449" y="6896330"/>
                </a:lnTo>
                <a:lnTo>
                  <a:pt x="0" y="6896330"/>
                </a:lnTo>
                <a:lnTo>
                  <a:pt x="0" y="0"/>
                </a:lnTo>
                <a:close/>
              </a:path>
            </a:pathLst>
          </a:custGeom>
          <a:blipFill>
            <a:blip r:embed="rId2"/>
            <a:stretch>
              <a:fillRect l="0" t="0" r="0" b="0"/>
            </a:stretch>
          </a:blipFill>
        </p:spPr>
      </p:sp>
      <p:sp>
        <p:nvSpPr>
          <p:cNvPr name="TextBox 3" id="3"/>
          <p:cNvSpPr txBox="true"/>
          <p:nvPr/>
        </p:nvSpPr>
        <p:spPr>
          <a:xfrm rot="0">
            <a:off x="1256862" y="607997"/>
            <a:ext cx="7242648" cy="1104036"/>
          </a:xfrm>
          <a:prstGeom prst="rect">
            <a:avLst/>
          </a:prstGeom>
        </p:spPr>
        <p:txBody>
          <a:bodyPr anchor="t" rtlCol="false" tIns="0" lIns="0" bIns="0" rIns="0">
            <a:spAutoFit/>
          </a:bodyPr>
          <a:lstStyle/>
          <a:p>
            <a:pPr algn="ctr" marL="0" indent="0" lvl="0">
              <a:lnSpc>
                <a:spcPts val="7414"/>
              </a:lnSpc>
              <a:spcBef>
                <a:spcPct val="0"/>
              </a:spcBef>
            </a:pPr>
            <a:r>
              <a:rPr lang="en-US" sz="10298">
                <a:solidFill>
                  <a:srgbClr val="6866E1"/>
                </a:solidFill>
                <a:latin typeface="Computer Says No"/>
                <a:ea typeface="Computer Says No"/>
                <a:cs typeface="Computer Says No"/>
                <a:sym typeface="Computer Says No"/>
              </a:rPr>
              <a:t>ABOUT THE PROJECT </a:t>
            </a:r>
          </a:p>
        </p:txBody>
      </p:sp>
      <p:sp>
        <p:nvSpPr>
          <p:cNvPr name="TextBox 4" id="4"/>
          <p:cNvSpPr txBox="true"/>
          <p:nvPr/>
        </p:nvSpPr>
        <p:spPr>
          <a:xfrm rot="0">
            <a:off x="1417791" y="1922489"/>
            <a:ext cx="6920791" cy="7976535"/>
          </a:xfrm>
          <a:prstGeom prst="rect">
            <a:avLst/>
          </a:prstGeom>
        </p:spPr>
        <p:txBody>
          <a:bodyPr anchor="t" rtlCol="false" tIns="0" lIns="0" bIns="0" rIns="0">
            <a:spAutoFit/>
          </a:bodyPr>
          <a:lstStyle/>
          <a:p>
            <a:pPr algn="l">
              <a:lnSpc>
                <a:spcPts val="2923"/>
              </a:lnSpc>
            </a:pPr>
            <a:r>
              <a:rPr lang="en-US" sz="2088">
                <a:solidFill>
                  <a:srgbClr val="FFFFFF"/>
                </a:solidFill>
                <a:latin typeface="Poppins Light"/>
                <a:ea typeface="Poppins Light"/>
                <a:cs typeface="Poppins Light"/>
                <a:sym typeface="Poppins Light"/>
              </a:rPr>
              <a:t>PatternScope AI is the core technology foundation for an academic handwriting authentication and automated grading system. The end goal is a platform where professors upload handwritten exams and assignments, and the system validates that the student who signed the submission actually wrote it by matching against their baseline handwriting patterns, then grades the content by extracting text from handwritten answers, analyzing topic coverage, and computing similarity scores against professor-provided answer keys.</a:t>
            </a:r>
          </a:p>
          <a:p>
            <a:pPr algn="l">
              <a:lnSpc>
                <a:spcPts val="2923"/>
              </a:lnSpc>
            </a:pPr>
          </a:p>
          <a:p>
            <a:pPr algn="l">
              <a:lnSpc>
                <a:spcPts val="2923"/>
              </a:lnSpc>
            </a:pPr>
            <a:r>
              <a:rPr lang="en-US" sz="2088">
                <a:solidFill>
                  <a:srgbClr val="FFFFFF"/>
                </a:solidFill>
                <a:latin typeface="Poppins Light"/>
                <a:ea typeface="Poppins Light"/>
                <a:cs typeface="Poppins Light"/>
                <a:sym typeface="Poppins Light"/>
              </a:rPr>
              <a:t>The current implementation builds this foundation by recognizing handwritten digits, geometric shapes, and custom symbols. Users upload images or draw patterns on a canvas. The system returns predictions with confidence scores, compares multiple AI models, and learns from user feedback in real-time. In the future, we plan to extend this project to handle full text recognition, writer verification, and content-based grading.</a:t>
            </a:r>
          </a:p>
          <a:p>
            <a:pPr algn="l">
              <a:lnSpc>
                <a:spcPts val="292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44EEA">
                <a:alpha val="100000"/>
              </a:srgbClr>
            </a:gs>
            <a:gs pos="50000">
              <a:srgbClr val="5527F5">
                <a:alpha val="100000"/>
              </a:srgbClr>
            </a:gs>
            <a:gs pos="100000">
              <a:srgbClr val="04106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783726" y="2819660"/>
            <a:ext cx="6988487" cy="5595357"/>
          </a:xfrm>
          <a:custGeom>
            <a:avLst/>
            <a:gdLst/>
            <a:ahLst/>
            <a:cxnLst/>
            <a:rect r="r" b="b" t="t" l="l"/>
            <a:pathLst>
              <a:path h="5595357" w="6988487">
                <a:moveTo>
                  <a:pt x="0" y="0"/>
                </a:moveTo>
                <a:lnTo>
                  <a:pt x="6988488" y="0"/>
                </a:lnTo>
                <a:lnTo>
                  <a:pt x="6988488" y="5595358"/>
                </a:lnTo>
                <a:lnTo>
                  <a:pt x="0" y="5595358"/>
                </a:lnTo>
                <a:lnTo>
                  <a:pt x="0" y="0"/>
                </a:lnTo>
                <a:close/>
              </a:path>
            </a:pathLst>
          </a:custGeom>
          <a:blipFill>
            <a:blip r:embed="rId2"/>
            <a:stretch>
              <a:fillRect l="0" t="0" r="0" b="0"/>
            </a:stretch>
          </a:blipFill>
        </p:spPr>
      </p:sp>
      <p:sp>
        <p:nvSpPr>
          <p:cNvPr name="Freeform 3" id="3"/>
          <p:cNvSpPr/>
          <p:nvPr/>
        </p:nvSpPr>
        <p:spPr>
          <a:xfrm flipH="false" flipV="false" rot="0">
            <a:off x="14135996" y="-2163135"/>
            <a:ext cx="6613789" cy="5640759"/>
          </a:xfrm>
          <a:custGeom>
            <a:avLst/>
            <a:gdLst/>
            <a:ahLst/>
            <a:cxnLst/>
            <a:rect r="r" b="b" t="t" l="l"/>
            <a:pathLst>
              <a:path h="5640759" w="6613789">
                <a:moveTo>
                  <a:pt x="0" y="0"/>
                </a:moveTo>
                <a:lnTo>
                  <a:pt x="6613790" y="0"/>
                </a:lnTo>
                <a:lnTo>
                  <a:pt x="6613790" y="5640759"/>
                </a:lnTo>
                <a:lnTo>
                  <a:pt x="0" y="5640759"/>
                </a:lnTo>
                <a:lnTo>
                  <a:pt x="0" y="0"/>
                </a:lnTo>
                <a:close/>
              </a:path>
            </a:pathLst>
          </a:custGeom>
          <a:blipFill>
            <a:blip r:embed="rId3"/>
            <a:stretch>
              <a:fillRect l="0" t="0" r="0" b="0"/>
            </a:stretch>
          </a:blipFill>
        </p:spPr>
      </p:sp>
      <p:sp>
        <p:nvSpPr>
          <p:cNvPr name="TextBox 4" id="4"/>
          <p:cNvSpPr txBox="true"/>
          <p:nvPr/>
        </p:nvSpPr>
        <p:spPr>
          <a:xfrm rot="0">
            <a:off x="7984048" y="1978490"/>
            <a:ext cx="8105145" cy="1101381"/>
          </a:xfrm>
          <a:prstGeom prst="rect">
            <a:avLst/>
          </a:prstGeom>
        </p:spPr>
        <p:txBody>
          <a:bodyPr anchor="t" rtlCol="false" tIns="0" lIns="0" bIns="0" rIns="0">
            <a:spAutoFit/>
          </a:bodyPr>
          <a:lstStyle/>
          <a:p>
            <a:pPr algn="l">
              <a:lnSpc>
                <a:spcPts val="2999"/>
              </a:lnSpc>
            </a:pPr>
            <a:r>
              <a:rPr lang="en-US" sz="1851">
                <a:solidFill>
                  <a:srgbClr val="FFFFFF"/>
                </a:solidFill>
                <a:latin typeface="Poppins Light"/>
                <a:ea typeface="Poppins Light"/>
                <a:cs typeface="Poppins Light"/>
                <a:sym typeface="Poppins Light"/>
              </a:rPr>
              <a:t>The system is built with C++14, CMake, stb_image, and natID GUI framework.</a:t>
            </a:r>
          </a:p>
          <a:p>
            <a:pPr algn="l">
              <a:lnSpc>
                <a:spcPts val="2999"/>
              </a:lnSpc>
            </a:pPr>
          </a:p>
        </p:txBody>
      </p:sp>
      <p:grpSp>
        <p:nvGrpSpPr>
          <p:cNvPr name="Group 5" id="5"/>
          <p:cNvGrpSpPr/>
          <p:nvPr/>
        </p:nvGrpSpPr>
        <p:grpSpPr>
          <a:xfrm rot="0">
            <a:off x="7984048" y="2949779"/>
            <a:ext cx="2668682" cy="680410"/>
            <a:chOff x="0" y="0"/>
            <a:chExt cx="702863" cy="179203"/>
          </a:xfrm>
        </p:grpSpPr>
        <p:sp>
          <p:nvSpPr>
            <p:cNvPr name="Freeform 6" id="6"/>
            <p:cNvSpPr/>
            <p:nvPr/>
          </p:nvSpPr>
          <p:spPr>
            <a:xfrm flipH="false" flipV="false" rot="0">
              <a:off x="0" y="0"/>
              <a:ext cx="702863" cy="179203"/>
            </a:xfrm>
            <a:custGeom>
              <a:avLst/>
              <a:gdLst/>
              <a:ahLst/>
              <a:cxnLst/>
              <a:rect r="r" b="b" t="t" l="l"/>
              <a:pathLst>
                <a:path h="179203" w="702863">
                  <a:moveTo>
                    <a:pt x="0" y="0"/>
                  </a:moveTo>
                  <a:lnTo>
                    <a:pt x="702863" y="0"/>
                  </a:lnTo>
                  <a:lnTo>
                    <a:pt x="702863" y="179203"/>
                  </a:lnTo>
                  <a:lnTo>
                    <a:pt x="0" y="179203"/>
                  </a:lnTo>
                  <a:close/>
                </a:path>
              </a:pathLst>
            </a:custGeom>
            <a:ln w="19050" cap="sq">
              <a:solidFill>
                <a:srgbClr val="FFFFFF"/>
              </a:solidFill>
              <a:prstDash val="solid"/>
              <a:miter/>
            </a:ln>
          </p:spPr>
        </p:sp>
        <p:sp>
          <p:nvSpPr>
            <p:cNvPr name="TextBox 7" id="7"/>
            <p:cNvSpPr txBox="true"/>
            <p:nvPr/>
          </p:nvSpPr>
          <p:spPr>
            <a:xfrm>
              <a:off x="0" y="-104775"/>
              <a:ext cx="702863" cy="283978"/>
            </a:xfrm>
            <a:prstGeom prst="rect">
              <a:avLst/>
            </a:prstGeom>
          </p:spPr>
          <p:txBody>
            <a:bodyPr anchor="ctr" rtlCol="false" tIns="50800" lIns="50800" bIns="50800" rIns="50800"/>
            <a:lstStyle/>
            <a:p>
              <a:pPr algn="l" marL="0" indent="0" lvl="1">
                <a:lnSpc>
                  <a:spcPts val="3706"/>
                </a:lnSpc>
                <a:spcBef>
                  <a:spcPct val="0"/>
                </a:spcBef>
              </a:pPr>
              <a:r>
                <a:rPr lang="en-US" sz="2288">
                  <a:solidFill>
                    <a:srgbClr val="FFFFFF"/>
                  </a:solidFill>
                  <a:latin typeface="Poppins Light"/>
                  <a:ea typeface="Poppins Light"/>
                  <a:cs typeface="Poppins Light"/>
                  <a:sym typeface="Poppins Light"/>
                </a:rPr>
                <a:t>DATASET</a:t>
              </a:r>
            </a:p>
          </p:txBody>
        </p:sp>
      </p:grpSp>
      <p:sp>
        <p:nvSpPr>
          <p:cNvPr name="TextBox 8" id="8"/>
          <p:cNvSpPr txBox="true"/>
          <p:nvPr/>
        </p:nvSpPr>
        <p:spPr>
          <a:xfrm rot="0">
            <a:off x="7984048" y="3689890"/>
            <a:ext cx="8105145" cy="3701706"/>
          </a:xfrm>
          <a:prstGeom prst="rect">
            <a:avLst/>
          </a:prstGeom>
        </p:spPr>
        <p:txBody>
          <a:bodyPr anchor="t" rtlCol="false" tIns="0" lIns="0" bIns="0" rIns="0">
            <a:spAutoFit/>
          </a:bodyPr>
          <a:lstStyle/>
          <a:p>
            <a:pPr algn="l">
              <a:lnSpc>
                <a:spcPts val="2999"/>
              </a:lnSpc>
            </a:pPr>
            <a:r>
              <a:rPr lang="en-US" sz="1851">
                <a:solidFill>
                  <a:srgbClr val="FFFFFF"/>
                </a:solidFill>
                <a:latin typeface="Poppins Light"/>
                <a:ea typeface="Poppins Light"/>
                <a:cs typeface="Poppins Light"/>
                <a:sym typeface="Poppins Light"/>
              </a:rPr>
              <a:t>The system trains on three datasets. The mnist folder contains MNIST handwritten digit data with 60,000 training images and 10,000 test images in IDX format. The datasets folder contains Quick Draw data in numpy format with 1,000 training examples and 200 test examples per category. Shapes include circle, square, and triangle. Symbols include checkmark, cross, and heart. The system uses a train-test split (see trainer.cpp). The training process uses these datasets to build pattern libraries for KNN, calculate statistics for Naive Bayes, learn weights for MLP, and select templates for A*.</a:t>
            </a:r>
          </a:p>
          <a:p>
            <a:pPr algn="l">
              <a:lnSpc>
                <a:spcPts val="2999"/>
              </a:lnSpc>
            </a:pPr>
          </a:p>
        </p:txBody>
      </p:sp>
      <p:grpSp>
        <p:nvGrpSpPr>
          <p:cNvPr name="Group 9" id="9"/>
          <p:cNvGrpSpPr/>
          <p:nvPr/>
        </p:nvGrpSpPr>
        <p:grpSpPr>
          <a:xfrm rot="0">
            <a:off x="7984048" y="1028700"/>
            <a:ext cx="3604463" cy="734592"/>
            <a:chOff x="0" y="0"/>
            <a:chExt cx="949324" cy="193473"/>
          </a:xfrm>
        </p:grpSpPr>
        <p:sp>
          <p:nvSpPr>
            <p:cNvPr name="Freeform 10" id="10"/>
            <p:cNvSpPr/>
            <p:nvPr/>
          </p:nvSpPr>
          <p:spPr>
            <a:xfrm flipH="false" flipV="false" rot="0">
              <a:off x="0" y="0"/>
              <a:ext cx="949324" cy="193473"/>
            </a:xfrm>
            <a:custGeom>
              <a:avLst/>
              <a:gdLst/>
              <a:ahLst/>
              <a:cxnLst/>
              <a:rect r="r" b="b" t="t" l="l"/>
              <a:pathLst>
                <a:path h="193473" w="949324">
                  <a:moveTo>
                    <a:pt x="0" y="0"/>
                  </a:moveTo>
                  <a:lnTo>
                    <a:pt x="949324" y="0"/>
                  </a:lnTo>
                  <a:lnTo>
                    <a:pt x="949324" y="193473"/>
                  </a:lnTo>
                  <a:lnTo>
                    <a:pt x="0" y="193473"/>
                  </a:lnTo>
                  <a:close/>
                </a:path>
              </a:pathLst>
            </a:custGeom>
            <a:ln w="19050" cap="sq">
              <a:solidFill>
                <a:srgbClr val="FFFFFF"/>
              </a:solidFill>
              <a:prstDash val="solid"/>
              <a:miter/>
            </a:ln>
          </p:spPr>
        </p:sp>
        <p:sp>
          <p:nvSpPr>
            <p:cNvPr name="TextBox 11" id="11"/>
            <p:cNvSpPr txBox="true"/>
            <p:nvPr/>
          </p:nvSpPr>
          <p:spPr>
            <a:xfrm>
              <a:off x="0" y="-104775"/>
              <a:ext cx="949324" cy="298248"/>
            </a:xfrm>
            <a:prstGeom prst="rect">
              <a:avLst/>
            </a:prstGeom>
          </p:spPr>
          <p:txBody>
            <a:bodyPr anchor="ctr" rtlCol="false" tIns="50800" lIns="50800" bIns="50800" rIns="50800"/>
            <a:lstStyle/>
            <a:p>
              <a:pPr algn="l" marL="0" indent="0" lvl="1">
                <a:lnSpc>
                  <a:spcPts val="3706"/>
                </a:lnSpc>
                <a:spcBef>
                  <a:spcPct val="0"/>
                </a:spcBef>
              </a:pPr>
              <a:r>
                <a:rPr lang="en-US" sz="2288">
                  <a:solidFill>
                    <a:srgbClr val="FFFFFF"/>
                  </a:solidFill>
                  <a:latin typeface="Poppins Light"/>
                  <a:ea typeface="Poppins Light"/>
                  <a:cs typeface="Poppins Light"/>
                  <a:sym typeface="Poppins Light"/>
                </a:rPr>
                <a:t>TECHNOLOGY STACK</a:t>
              </a:r>
            </a:p>
          </p:txBody>
        </p:sp>
      </p:grpSp>
      <p:grpSp>
        <p:nvGrpSpPr>
          <p:cNvPr name="Group 12" id="12"/>
          <p:cNvGrpSpPr/>
          <p:nvPr/>
        </p:nvGrpSpPr>
        <p:grpSpPr>
          <a:xfrm rot="0">
            <a:off x="7984048" y="7391596"/>
            <a:ext cx="4903225" cy="680410"/>
            <a:chOff x="0" y="0"/>
            <a:chExt cx="1291384" cy="179203"/>
          </a:xfrm>
        </p:grpSpPr>
        <p:sp>
          <p:nvSpPr>
            <p:cNvPr name="Freeform 13" id="13"/>
            <p:cNvSpPr/>
            <p:nvPr/>
          </p:nvSpPr>
          <p:spPr>
            <a:xfrm flipH="false" flipV="false" rot="0">
              <a:off x="0" y="0"/>
              <a:ext cx="1291384" cy="179203"/>
            </a:xfrm>
            <a:custGeom>
              <a:avLst/>
              <a:gdLst/>
              <a:ahLst/>
              <a:cxnLst/>
              <a:rect r="r" b="b" t="t" l="l"/>
              <a:pathLst>
                <a:path h="179203" w="1291384">
                  <a:moveTo>
                    <a:pt x="0" y="0"/>
                  </a:moveTo>
                  <a:lnTo>
                    <a:pt x="1291384" y="0"/>
                  </a:lnTo>
                  <a:lnTo>
                    <a:pt x="1291384" y="179203"/>
                  </a:lnTo>
                  <a:lnTo>
                    <a:pt x="0" y="179203"/>
                  </a:lnTo>
                  <a:close/>
                </a:path>
              </a:pathLst>
            </a:custGeom>
            <a:ln w="19050" cap="sq">
              <a:solidFill>
                <a:srgbClr val="FFFFFF"/>
              </a:solidFill>
              <a:prstDash val="solid"/>
              <a:miter/>
            </a:ln>
          </p:spPr>
        </p:sp>
        <p:sp>
          <p:nvSpPr>
            <p:cNvPr name="TextBox 14" id="14"/>
            <p:cNvSpPr txBox="true"/>
            <p:nvPr/>
          </p:nvSpPr>
          <p:spPr>
            <a:xfrm>
              <a:off x="0" y="-104775"/>
              <a:ext cx="1291384" cy="283978"/>
            </a:xfrm>
            <a:prstGeom prst="rect">
              <a:avLst/>
            </a:prstGeom>
          </p:spPr>
          <p:txBody>
            <a:bodyPr anchor="ctr" rtlCol="false" tIns="50800" lIns="50800" bIns="50800" rIns="50800"/>
            <a:lstStyle/>
            <a:p>
              <a:pPr algn="l" marL="0" indent="0" lvl="1">
                <a:lnSpc>
                  <a:spcPts val="3706"/>
                </a:lnSpc>
                <a:spcBef>
                  <a:spcPct val="0"/>
                </a:spcBef>
              </a:pPr>
              <a:r>
                <a:rPr lang="en-US" sz="2288">
                  <a:solidFill>
                    <a:srgbClr val="FFFFFF"/>
                  </a:solidFill>
                  <a:latin typeface="Poppins Light"/>
                  <a:ea typeface="Poppins Light"/>
                  <a:cs typeface="Poppins Light"/>
                  <a:sym typeface="Poppins Light"/>
                </a:rPr>
                <a:t>ALGORITHMS AND MODELS</a:t>
              </a:r>
            </a:p>
          </p:txBody>
        </p:sp>
      </p:grpSp>
      <p:sp>
        <p:nvSpPr>
          <p:cNvPr name="TextBox 15" id="15"/>
          <p:cNvSpPr txBox="true"/>
          <p:nvPr/>
        </p:nvSpPr>
        <p:spPr>
          <a:xfrm rot="0">
            <a:off x="7984048" y="8071194"/>
            <a:ext cx="7765774" cy="2126617"/>
          </a:xfrm>
          <a:prstGeom prst="rect">
            <a:avLst/>
          </a:prstGeom>
        </p:spPr>
        <p:txBody>
          <a:bodyPr anchor="t" rtlCol="false" tIns="0" lIns="0" bIns="0" rIns="0">
            <a:spAutoFit/>
          </a:bodyPr>
          <a:lstStyle/>
          <a:p>
            <a:pPr algn="l">
              <a:lnSpc>
                <a:spcPts val="2874"/>
              </a:lnSpc>
            </a:pPr>
            <a:r>
              <a:rPr lang="en-US" sz="1774">
                <a:solidFill>
                  <a:srgbClr val="FFFFFF"/>
                </a:solidFill>
                <a:latin typeface="Poppins Light"/>
                <a:ea typeface="Poppins Light"/>
                <a:cs typeface="Poppins Light"/>
                <a:sym typeface="Poppins Light"/>
              </a:rPr>
              <a:t>1. K-Nearest Neighbors (KNN)</a:t>
            </a:r>
          </a:p>
          <a:p>
            <a:pPr algn="l">
              <a:lnSpc>
                <a:spcPts val="2874"/>
              </a:lnSpc>
            </a:pPr>
            <a:r>
              <a:rPr lang="en-US" sz="1774">
                <a:solidFill>
                  <a:srgbClr val="FFFFFF"/>
                </a:solidFill>
                <a:latin typeface="Poppins Light"/>
                <a:ea typeface="Poppins Light"/>
                <a:cs typeface="Poppins Light"/>
                <a:sym typeface="Poppins Light"/>
              </a:rPr>
              <a:t>2. Naive Bayes</a:t>
            </a:r>
          </a:p>
          <a:p>
            <a:pPr algn="l">
              <a:lnSpc>
                <a:spcPts val="2874"/>
              </a:lnSpc>
            </a:pPr>
            <a:r>
              <a:rPr lang="en-US" sz="1774">
                <a:solidFill>
                  <a:srgbClr val="FFFFFF"/>
                </a:solidFill>
                <a:latin typeface="Poppins Light"/>
                <a:ea typeface="Poppins Light"/>
                <a:cs typeface="Poppins Light"/>
                <a:sym typeface="Poppins Light"/>
              </a:rPr>
              <a:t>3. Mini Multi-Layer Perceptron (MLP)</a:t>
            </a:r>
          </a:p>
          <a:p>
            <a:pPr algn="l">
              <a:lnSpc>
                <a:spcPts val="2874"/>
              </a:lnSpc>
            </a:pPr>
            <a:r>
              <a:rPr lang="en-US" sz="1774">
                <a:solidFill>
                  <a:srgbClr val="FFFFFF"/>
                </a:solidFill>
                <a:latin typeface="Poppins Light"/>
                <a:ea typeface="Poppins Light"/>
                <a:cs typeface="Poppins Light"/>
                <a:sym typeface="Poppins Light"/>
              </a:rPr>
              <a:t>4. A* Template Matcher</a:t>
            </a:r>
          </a:p>
          <a:p>
            <a:pPr algn="l">
              <a:lnSpc>
                <a:spcPts val="2874"/>
              </a:lnSpc>
            </a:pPr>
            <a:r>
              <a:rPr lang="en-US" sz="1774">
                <a:solidFill>
                  <a:srgbClr val="FFFFFF"/>
                </a:solidFill>
                <a:latin typeface="Poppins Light"/>
                <a:ea typeface="Poppins Light"/>
                <a:cs typeface="Poppins Light"/>
                <a:sym typeface="Poppins Light"/>
              </a:rPr>
              <a:t>5. Rule-Based Engine (Fallback)</a:t>
            </a:r>
          </a:p>
          <a:p>
            <a:pPr algn="l">
              <a:lnSpc>
                <a:spcPts val="287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3916" r="0" b="-86898"/>
            </a:stretch>
          </a:blipFill>
        </p:spPr>
      </p:sp>
      <p:sp>
        <p:nvSpPr>
          <p:cNvPr name="Freeform 3" id="3"/>
          <p:cNvSpPr/>
          <p:nvPr/>
        </p:nvSpPr>
        <p:spPr>
          <a:xfrm flipH="false" flipV="false" rot="0">
            <a:off x="9628373" y="-3765660"/>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811039" y="4636180"/>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3"/>
            <a:stretch>
              <a:fillRect l="0" t="0" r="0" b="0"/>
            </a:stretch>
          </a:blipFill>
        </p:spPr>
      </p:sp>
      <p:sp>
        <p:nvSpPr>
          <p:cNvPr name="TextBox 5" id="5"/>
          <p:cNvSpPr txBox="true"/>
          <p:nvPr/>
        </p:nvSpPr>
        <p:spPr>
          <a:xfrm rot="0">
            <a:off x="4338661" y="1717088"/>
            <a:ext cx="9610678" cy="1141900"/>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6866E1"/>
                </a:solidFill>
                <a:latin typeface="Computer Says No"/>
                <a:ea typeface="Computer Says No"/>
                <a:cs typeface="Computer Says No"/>
                <a:sym typeface="Computer Says No"/>
              </a:rPr>
              <a:t>HOW ALGORITHMS WORK</a:t>
            </a:r>
          </a:p>
        </p:txBody>
      </p:sp>
      <p:sp>
        <p:nvSpPr>
          <p:cNvPr name="Freeform 6" id="6"/>
          <p:cNvSpPr/>
          <p:nvPr/>
        </p:nvSpPr>
        <p:spPr>
          <a:xfrm flipH="false" flipV="false" rot="0">
            <a:off x="196542" y="3488537"/>
            <a:ext cx="2113329" cy="2113329"/>
          </a:xfrm>
          <a:custGeom>
            <a:avLst/>
            <a:gdLst/>
            <a:ahLst/>
            <a:cxnLst/>
            <a:rect r="r" b="b" t="t" l="l"/>
            <a:pathLst>
              <a:path h="2113329" w="2113329">
                <a:moveTo>
                  <a:pt x="0" y="0"/>
                </a:moveTo>
                <a:lnTo>
                  <a:pt x="2113330" y="0"/>
                </a:lnTo>
                <a:lnTo>
                  <a:pt x="2113330" y="2113329"/>
                </a:lnTo>
                <a:lnTo>
                  <a:pt x="0" y="21133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851660" y="3407315"/>
            <a:ext cx="2113329" cy="2113329"/>
          </a:xfrm>
          <a:custGeom>
            <a:avLst/>
            <a:gdLst/>
            <a:ahLst/>
            <a:cxnLst/>
            <a:rect r="r" b="b" t="t" l="l"/>
            <a:pathLst>
              <a:path h="2113329" w="2113329">
                <a:moveTo>
                  <a:pt x="0" y="0"/>
                </a:moveTo>
                <a:lnTo>
                  <a:pt x="2113330" y="0"/>
                </a:lnTo>
                <a:lnTo>
                  <a:pt x="2113330" y="2113329"/>
                </a:lnTo>
                <a:lnTo>
                  <a:pt x="0" y="21133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5409176" y="3383492"/>
            <a:ext cx="2113329" cy="2113329"/>
          </a:xfrm>
          <a:custGeom>
            <a:avLst/>
            <a:gdLst/>
            <a:ahLst/>
            <a:cxnLst/>
            <a:rect r="r" b="b" t="t" l="l"/>
            <a:pathLst>
              <a:path h="2113329" w="2113329">
                <a:moveTo>
                  <a:pt x="0" y="0"/>
                </a:moveTo>
                <a:lnTo>
                  <a:pt x="2113330" y="0"/>
                </a:lnTo>
                <a:lnTo>
                  <a:pt x="2113330" y="2113330"/>
                </a:lnTo>
                <a:lnTo>
                  <a:pt x="0" y="21133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7970181" y="3407319"/>
            <a:ext cx="2113329" cy="2113329"/>
          </a:xfrm>
          <a:custGeom>
            <a:avLst/>
            <a:gdLst/>
            <a:ahLst/>
            <a:cxnLst/>
            <a:rect r="r" b="b" t="t" l="l"/>
            <a:pathLst>
              <a:path h="2113329" w="2113329">
                <a:moveTo>
                  <a:pt x="0" y="0"/>
                </a:moveTo>
                <a:lnTo>
                  <a:pt x="2113329" y="0"/>
                </a:lnTo>
                <a:lnTo>
                  <a:pt x="2113329" y="2113330"/>
                </a:lnTo>
                <a:lnTo>
                  <a:pt x="0" y="21133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600289" y="4195677"/>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01</a:t>
            </a:r>
          </a:p>
        </p:txBody>
      </p:sp>
      <p:sp>
        <p:nvSpPr>
          <p:cNvPr name="TextBox 11" id="11"/>
          <p:cNvSpPr txBox="true"/>
          <p:nvPr/>
        </p:nvSpPr>
        <p:spPr>
          <a:xfrm rot="0">
            <a:off x="3121512" y="4114446"/>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02</a:t>
            </a:r>
          </a:p>
        </p:txBody>
      </p:sp>
      <p:sp>
        <p:nvSpPr>
          <p:cNvPr name="TextBox 12" id="12"/>
          <p:cNvSpPr txBox="true"/>
          <p:nvPr/>
        </p:nvSpPr>
        <p:spPr>
          <a:xfrm rot="0">
            <a:off x="5675020" y="4114446"/>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03</a:t>
            </a:r>
          </a:p>
        </p:txBody>
      </p:sp>
      <p:sp>
        <p:nvSpPr>
          <p:cNvPr name="TextBox 13" id="13"/>
          <p:cNvSpPr txBox="true"/>
          <p:nvPr/>
        </p:nvSpPr>
        <p:spPr>
          <a:xfrm rot="0">
            <a:off x="8194556" y="4033488"/>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04</a:t>
            </a:r>
          </a:p>
        </p:txBody>
      </p:sp>
      <p:sp>
        <p:nvSpPr>
          <p:cNvPr name="TextBox 14" id="14"/>
          <p:cNvSpPr txBox="true"/>
          <p:nvPr/>
        </p:nvSpPr>
        <p:spPr>
          <a:xfrm rot="0">
            <a:off x="7953850" y="5764161"/>
            <a:ext cx="2835183" cy="1017742"/>
          </a:xfrm>
          <a:prstGeom prst="rect">
            <a:avLst/>
          </a:prstGeom>
        </p:spPr>
        <p:txBody>
          <a:bodyPr anchor="t" rtlCol="false" tIns="0" lIns="0" bIns="0" rIns="0">
            <a:spAutoFit/>
          </a:bodyPr>
          <a:lstStyle/>
          <a:p>
            <a:pPr algn="ctr">
              <a:lnSpc>
                <a:spcPts val="2724"/>
              </a:lnSpc>
            </a:pPr>
            <a:r>
              <a:rPr lang="en-US" sz="1681">
                <a:solidFill>
                  <a:srgbClr val="FFFFFF"/>
                </a:solidFill>
                <a:latin typeface="Poppins Light"/>
                <a:ea typeface="Poppins Light"/>
                <a:cs typeface="Poppins Light"/>
                <a:sym typeface="Poppins Light"/>
              </a:rPr>
              <a:t>🔹 4) A* Template Matcher</a:t>
            </a:r>
          </a:p>
          <a:p>
            <a:pPr algn="ctr">
              <a:lnSpc>
                <a:spcPts val="2724"/>
              </a:lnSpc>
            </a:pPr>
          </a:p>
        </p:txBody>
      </p:sp>
      <p:sp>
        <p:nvSpPr>
          <p:cNvPr name="AutoShape 15" id="15"/>
          <p:cNvSpPr/>
          <p:nvPr/>
        </p:nvSpPr>
        <p:spPr>
          <a:xfrm>
            <a:off x="7524761" y="4463974"/>
            <a:ext cx="586414" cy="10"/>
          </a:xfrm>
          <a:prstGeom prst="line">
            <a:avLst/>
          </a:prstGeom>
          <a:ln cap="rnd" w="47625">
            <a:solidFill>
              <a:srgbClr val="5CE5F8"/>
            </a:solidFill>
            <a:prstDash val="sysDot"/>
            <a:headEnd type="none" len="sm" w="sm"/>
            <a:tailEnd type="none" len="sm" w="sm"/>
          </a:ln>
        </p:spPr>
      </p:sp>
      <p:sp>
        <p:nvSpPr>
          <p:cNvPr name="TextBox 16" id="16"/>
          <p:cNvSpPr txBox="true"/>
          <p:nvPr/>
        </p:nvSpPr>
        <p:spPr>
          <a:xfrm rot="0">
            <a:off x="5184853" y="5773686"/>
            <a:ext cx="3121512" cy="1101381"/>
          </a:xfrm>
          <a:prstGeom prst="rect">
            <a:avLst/>
          </a:prstGeom>
        </p:spPr>
        <p:txBody>
          <a:bodyPr anchor="t" rtlCol="false" tIns="0" lIns="0" bIns="0" rIns="0">
            <a:spAutoFit/>
          </a:bodyPr>
          <a:lstStyle/>
          <a:p>
            <a:pPr algn="ctr">
              <a:lnSpc>
                <a:spcPts val="2999"/>
              </a:lnSpc>
            </a:pPr>
            <a:r>
              <a:rPr lang="en-US" sz="1851">
                <a:solidFill>
                  <a:srgbClr val="FFFFFF"/>
                </a:solidFill>
                <a:latin typeface="Poppins Light"/>
                <a:ea typeface="Poppins Light"/>
                <a:cs typeface="Poppins Light"/>
                <a:sym typeface="Poppins Light"/>
              </a:rPr>
              <a:t>🔹 3) Mini Multi-Layer Perceptron (MLP)</a:t>
            </a:r>
          </a:p>
          <a:p>
            <a:pPr algn="ctr">
              <a:lnSpc>
                <a:spcPts val="2999"/>
              </a:lnSpc>
            </a:pPr>
          </a:p>
        </p:txBody>
      </p:sp>
      <p:sp>
        <p:nvSpPr>
          <p:cNvPr name="TextBox 17" id="17"/>
          <p:cNvSpPr txBox="true"/>
          <p:nvPr/>
        </p:nvSpPr>
        <p:spPr>
          <a:xfrm rot="0">
            <a:off x="2577163" y="5773686"/>
            <a:ext cx="3121512" cy="729906"/>
          </a:xfrm>
          <a:prstGeom prst="rect">
            <a:avLst/>
          </a:prstGeom>
        </p:spPr>
        <p:txBody>
          <a:bodyPr anchor="t" rtlCol="false" tIns="0" lIns="0" bIns="0" rIns="0">
            <a:spAutoFit/>
          </a:bodyPr>
          <a:lstStyle/>
          <a:p>
            <a:pPr algn="ctr">
              <a:lnSpc>
                <a:spcPts val="2999"/>
              </a:lnSpc>
            </a:pPr>
            <a:r>
              <a:rPr lang="en-US" sz="1851">
                <a:solidFill>
                  <a:srgbClr val="FFFFFF"/>
                </a:solidFill>
                <a:latin typeface="Poppins Light"/>
                <a:ea typeface="Poppins Light"/>
                <a:cs typeface="Poppins Light"/>
                <a:sym typeface="Poppins Light"/>
              </a:rPr>
              <a:t>🔹 2) Naive Bayes</a:t>
            </a:r>
          </a:p>
          <a:p>
            <a:pPr algn="ctr">
              <a:lnSpc>
                <a:spcPts val="2999"/>
              </a:lnSpc>
            </a:pPr>
          </a:p>
        </p:txBody>
      </p:sp>
      <p:sp>
        <p:nvSpPr>
          <p:cNvPr name="AutoShape 18" id="18"/>
          <p:cNvSpPr/>
          <p:nvPr/>
        </p:nvSpPr>
        <p:spPr>
          <a:xfrm>
            <a:off x="4964990" y="4463979"/>
            <a:ext cx="578719" cy="0"/>
          </a:xfrm>
          <a:prstGeom prst="line">
            <a:avLst/>
          </a:prstGeom>
          <a:ln cap="rnd" w="47625">
            <a:solidFill>
              <a:srgbClr val="5CE5F8"/>
            </a:solidFill>
            <a:prstDash val="sysDot"/>
            <a:headEnd type="none" len="sm" w="sm"/>
            <a:tailEnd type="none" len="sm" w="sm"/>
          </a:ln>
        </p:spPr>
      </p:sp>
      <p:sp>
        <p:nvSpPr>
          <p:cNvPr name="AutoShape 19" id="19"/>
          <p:cNvSpPr/>
          <p:nvPr/>
        </p:nvSpPr>
        <p:spPr>
          <a:xfrm>
            <a:off x="2309872" y="4497576"/>
            <a:ext cx="605530" cy="0"/>
          </a:xfrm>
          <a:prstGeom prst="line">
            <a:avLst/>
          </a:prstGeom>
          <a:ln cap="rnd" w="47625">
            <a:solidFill>
              <a:srgbClr val="5CE5F8"/>
            </a:solidFill>
            <a:prstDash val="sysDot"/>
            <a:headEnd type="none" len="sm" w="sm"/>
            <a:tailEnd type="none" len="sm" w="sm"/>
          </a:ln>
        </p:spPr>
      </p:sp>
      <p:sp>
        <p:nvSpPr>
          <p:cNvPr name="TextBox 20" id="20"/>
          <p:cNvSpPr txBox="true"/>
          <p:nvPr/>
        </p:nvSpPr>
        <p:spPr>
          <a:xfrm rot="0">
            <a:off x="0" y="5773686"/>
            <a:ext cx="3121512" cy="1101381"/>
          </a:xfrm>
          <a:prstGeom prst="rect">
            <a:avLst/>
          </a:prstGeom>
        </p:spPr>
        <p:txBody>
          <a:bodyPr anchor="t" rtlCol="false" tIns="0" lIns="0" bIns="0" rIns="0">
            <a:spAutoFit/>
          </a:bodyPr>
          <a:lstStyle/>
          <a:p>
            <a:pPr algn="ctr">
              <a:lnSpc>
                <a:spcPts val="2999"/>
              </a:lnSpc>
            </a:pPr>
            <a:r>
              <a:rPr lang="en-US" sz="1851">
                <a:solidFill>
                  <a:srgbClr val="FFFFFF"/>
                </a:solidFill>
                <a:latin typeface="Poppins Light"/>
                <a:ea typeface="Poppins Light"/>
                <a:cs typeface="Poppins Light"/>
                <a:sym typeface="Poppins Light"/>
              </a:rPr>
              <a:t>🔹 1) K-Nearest Neighbors (KNN)</a:t>
            </a:r>
          </a:p>
          <a:p>
            <a:pPr algn="ctr">
              <a:lnSpc>
                <a:spcPts val="2999"/>
              </a:lnSpc>
            </a:pPr>
          </a:p>
        </p:txBody>
      </p:sp>
      <p:sp>
        <p:nvSpPr>
          <p:cNvPr name="TextBox 21" id="21"/>
          <p:cNvSpPr txBox="true"/>
          <p:nvPr/>
        </p:nvSpPr>
        <p:spPr>
          <a:xfrm rot="0">
            <a:off x="10789033" y="4114446"/>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05</a:t>
            </a:r>
          </a:p>
        </p:txBody>
      </p:sp>
      <p:sp>
        <p:nvSpPr>
          <p:cNvPr name="Freeform 22" id="22"/>
          <p:cNvSpPr/>
          <p:nvPr/>
        </p:nvSpPr>
        <p:spPr>
          <a:xfrm flipH="false" flipV="false" rot="0">
            <a:off x="10616654" y="3302535"/>
            <a:ext cx="2113329" cy="2113329"/>
          </a:xfrm>
          <a:custGeom>
            <a:avLst/>
            <a:gdLst/>
            <a:ahLst/>
            <a:cxnLst/>
            <a:rect r="r" b="b" t="t" l="l"/>
            <a:pathLst>
              <a:path h="2113329" w="2113329">
                <a:moveTo>
                  <a:pt x="0" y="0"/>
                </a:moveTo>
                <a:lnTo>
                  <a:pt x="2113330" y="0"/>
                </a:lnTo>
                <a:lnTo>
                  <a:pt x="2113330" y="2113329"/>
                </a:lnTo>
                <a:lnTo>
                  <a:pt x="0" y="21133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3" id="23"/>
          <p:cNvSpPr/>
          <p:nvPr/>
        </p:nvSpPr>
        <p:spPr>
          <a:xfrm flipV="true">
            <a:off x="10083510" y="4463936"/>
            <a:ext cx="511931" cy="48"/>
          </a:xfrm>
          <a:prstGeom prst="line">
            <a:avLst/>
          </a:prstGeom>
          <a:ln cap="rnd" w="47625">
            <a:solidFill>
              <a:srgbClr val="5CE5F8"/>
            </a:solidFill>
            <a:prstDash val="sysDot"/>
            <a:headEnd type="none" len="sm" w="sm"/>
            <a:tailEnd type="none" len="sm" w="sm"/>
          </a:ln>
        </p:spPr>
      </p:sp>
      <p:sp>
        <p:nvSpPr>
          <p:cNvPr name="Freeform 24" id="24"/>
          <p:cNvSpPr/>
          <p:nvPr/>
        </p:nvSpPr>
        <p:spPr>
          <a:xfrm flipH="false" flipV="false" rot="0">
            <a:off x="13263128" y="3302535"/>
            <a:ext cx="2113329" cy="2113329"/>
          </a:xfrm>
          <a:custGeom>
            <a:avLst/>
            <a:gdLst/>
            <a:ahLst/>
            <a:cxnLst/>
            <a:rect r="r" b="b" t="t" l="l"/>
            <a:pathLst>
              <a:path h="2113329" w="2113329">
                <a:moveTo>
                  <a:pt x="0" y="0"/>
                </a:moveTo>
                <a:lnTo>
                  <a:pt x="2113329" y="0"/>
                </a:lnTo>
                <a:lnTo>
                  <a:pt x="2113329" y="2113329"/>
                </a:lnTo>
                <a:lnTo>
                  <a:pt x="0" y="21133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5957482" y="3302535"/>
            <a:ext cx="2113329" cy="2113329"/>
          </a:xfrm>
          <a:custGeom>
            <a:avLst/>
            <a:gdLst/>
            <a:ahLst/>
            <a:cxnLst/>
            <a:rect r="r" b="b" t="t" l="l"/>
            <a:pathLst>
              <a:path h="2113329" w="2113329">
                <a:moveTo>
                  <a:pt x="0" y="0"/>
                </a:moveTo>
                <a:lnTo>
                  <a:pt x="2113330" y="0"/>
                </a:lnTo>
                <a:lnTo>
                  <a:pt x="2113330" y="2113329"/>
                </a:lnTo>
                <a:lnTo>
                  <a:pt x="0" y="21133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6" id="26"/>
          <p:cNvSpPr/>
          <p:nvPr/>
        </p:nvSpPr>
        <p:spPr>
          <a:xfrm>
            <a:off x="12749034" y="4449942"/>
            <a:ext cx="586414" cy="10"/>
          </a:xfrm>
          <a:prstGeom prst="line">
            <a:avLst/>
          </a:prstGeom>
          <a:ln cap="rnd" w="47625">
            <a:solidFill>
              <a:srgbClr val="5CE5F8"/>
            </a:solidFill>
            <a:prstDash val="sysDot"/>
            <a:headEnd type="none" len="sm" w="sm"/>
            <a:tailEnd type="none" len="sm" w="sm"/>
          </a:ln>
        </p:spPr>
      </p:sp>
      <p:sp>
        <p:nvSpPr>
          <p:cNvPr name="AutoShape 27" id="27"/>
          <p:cNvSpPr/>
          <p:nvPr/>
        </p:nvSpPr>
        <p:spPr>
          <a:xfrm>
            <a:off x="15509808" y="4473754"/>
            <a:ext cx="586414" cy="10"/>
          </a:xfrm>
          <a:prstGeom prst="line">
            <a:avLst/>
          </a:prstGeom>
          <a:ln cap="rnd" w="47625">
            <a:solidFill>
              <a:srgbClr val="5CE5F8"/>
            </a:solidFill>
            <a:prstDash val="sysDot"/>
            <a:headEnd type="none" len="sm" w="sm"/>
            <a:tailEnd type="none" len="sm" w="sm"/>
          </a:ln>
        </p:spPr>
      </p:sp>
      <p:sp>
        <p:nvSpPr>
          <p:cNvPr name="TextBox 28" id="28"/>
          <p:cNvSpPr txBox="true"/>
          <p:nvPr/>
        </p:nvSpPr>
        <p:spPr>
          <a:xfrm rot="0">
            <a:off x="13386134" y="4114446"/>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06</a:t>
            </a:r>
          </a:p>
        </p:txBody>
      </p:sp>
      <p:sp>
        <p:nvSpPr>
          <p:cNvPr name="TextBox 29" id="29"/>
          <p:cNvSpPr txBox="true"/>
          <p:nvPr/>
        </p:nvSpPr>
        <p:spPr>
          <a:xfrm rot="0">
            <a:off x="16205132" y="4138268"/>
            <a:ext cx="1305836" cy="1137198"/>
          </a:xfrm>
          <a:prstGeom prst="rect">
            <a:avLst/>
          </a:prstGeom>
        </p:spPr>
        <p:txBody>
          <a:bodyPr anchor="t" rtlCol="false" tIns="0" lIns="0" bIns="0" rIns="0">
            <a:spAutoFit/>
          </a:bodyPr>
          <a:lstStyle/>
          <a:p>
            <a:pPr algn="ctr" marL="0" indent="0" lvl="0">
              <a:lnSpc>
                <a:spcPts val="7693"/>
              </a:lnSpc>
              <a:spcBef>
                <a:spcPct val="0"/>
              </a:spcBef>
            </a:pPr>
            <a:r>
              <a:rPr lang="en-US" sz="10686">
                <a:solidFill>
                  <a:srgbClr val="40B8F5"/>
                </a:solidFill>
                <a:latin typeface="Computer Says No"/>
                <a:ea typeface="Computer Says No"/>
                <a:cs typeface="Computer Says No"/>
                <a:sym typeface="Computer Says No"/>
              </a:rPr>
              <a:t>07</a:t>
            </a:r>
          </a:p>
        </p:txBody>
      </p:sp>
      <p:sp>
        <p:nvSpPr>
          <p:cNvPr name="TextBox 30" id="30"/>
          <p:cNvSpPr txBox="true"/>
          <p:nvPr/>
        </p:nvSpPr>
        <p:spPr>
          <a:xfrm rot="0">
            <a:off x="10373290" y="5702315"/>
            <a:ext cx="2889838" cy="691621"/>
          </a:xfrm>
          <a:prstGeom prst="rect">
            <a:avLst/>
          </a:prstGeom>
        </p:spPr>
        <p:txBody>
          <a:bodyPr anchor="t" rtlCol="false" tIns="0" lIns="0" bIns="0" rIns="0">
            <a:spAutoFit/>
          </a:bodyPr>
          <a:lstStyle/>
          <a:p>
            <a:pPr algn="ctr">
              <a:lnSpc>
                <a:spcPts val="2777"/>
              </a:lnSpc>
            </a:pPr>
            <a:r>
              <a:rPr lang="en-US" sz="1714">
                <a:solidFill>
                  <a:srgbClr val="FFFFFF"/>
                </a:solidFill>
                <a:latin typeface="Poppins Light"/>
                <a:ea typeface="Poppins Light"/>
                <a:cs typeface="Poppins Light"/>
                <a:sym typeface="Poppins Light"/>
              </a:rPr>
              <a:t>🔹 5) Rule-Based Engine</a:t>
            </a:r>
          </a:p>
          <a:p>
            <a:pPr algn="ctr">
              <a:lnSpc>
                <a:spcPts val="2777"/>
              </a:lnSpc>
            </a:pPr>
          </a:p>
        </p:txBody>
      </p:sp>
      <p:sp>
        <p:nvSpPr>
          <p:cNvPr name="TextBox 31" id="31"/>
          <p:cNvSpPr txBox="true"/>
          <p:nvPr/>
        </p:nvSpPr>
        <p:spPr>
          <a:xfrm rot="0">
            <a:off x="13263128" y="5711840"/>
            <a:ext cx="2812004" cy="1000676"/>
          </a:xfrm>
          <a:prstGeom prst="rect">
            <a:avLst/>
          </a:prstGeom>
        </p:spPr>
        <p:txBody>
          <a:bodyPr anchor="t" rtlCol="false" tIns="0" lIns="0" bIns="0" rIns="0">
            <a:spAutoFit/>
          </a:bodyPr>
          <a:lstStyle/>
          <a:p>
            <a:pPr algn="ctr">
              <a:lnSpc>
                <a:spcPts val="2702"/>
              </a:lnSpc>
            </a:pPr>
            <a:r>
              <a:rPr lang="en-US" sz="1668">
                <a:solidFill>
                  <a:srgbClr val="FFFFFF"/>
                </a:solidFill>
                <a:latin typeface="Poppins Light"/>
                <a:ea typeface="Poppins Light"/>
                <a:cs typeface="Poppins Light"/>
                <a:sym typeface="Poppins Light"/>
              </a:rPr>
              <a:t>🔹 6) Ensemble &amp; Active Learning</a:t>
            </a:r>
          </a:p>
          <a:p>
            <a:pPr algn="ctr">
              <a:lnSpc>
                <a:spcPts val="2702"/>
              </a:lnSpc>
            </a:pPr>
          </a:p>
        </p:txBody>
      </p:sp>
      <p:sp>
        <p:nvSpPr>
          <p:cNvPr name="TextBox 32" id="32"/>
          <p:cNvSpPr txBox="true"/>
          <p:nvPr/>
        </p:nvSpPr>
        <p:spPr>
          <a:xfrm rot="0">
            <a:off x="15698544" y="5783211"/>
            <a:ext cx="2524400" cy="597156"/>
          </a:xfrm>
          <a:prstGeom prst="rect">
            <a:avLst/>
          </a:prstGeom>
        </p:spPr>
        <p:txBody>
          <a:bodyPr anchor="t" rtlCol="false" tIns="0" lIns="0" bIns="0" rIns="0">
            <a:spAutoFit/>
          </a:bodyPr>
          <a:lstStyle/>
          <a:p>
            <a:pPr algn="ctr">
              <a:lnSpc>
                <a:spcPts val="2425"/>
              </a:lnSpc>
            </a:pPr>
            <a:r>
              <a:rPr lang="en-US" sz="1497">
                <a:solidFill>
                  <a:srgbClr val="FFFFFF"/>
                </a:solidFill>
                <a:latin typeface="Poppins Light"/>
                <a:ea typeface="Poppins Light"/>
                <a:cs typeface="Poppins Light"/>
                <a:sym typeface="Poppins Light"/>
              </a:rPr>
              <a:t>🔹 7) Model Training (Offline)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9B60EB">
                <a:alpha val="100000"/>
              </a:srgbClr>
            </a:gs>
            <a:gs pos="50000">
              <a:srgbClr val="5527F5">
                <a:alpha val="100000"/>
              </a:srgbClr>
            </a:gs>
            <a:gs pos="100000">
              <a:srgbClr val="9B60E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400000">
            <a:off x="81656" y="5321225"/>
            <a:ext cx="9074405" cy="4174226"/>
          </a:xfrm>
          <a:custGeom>
            <a:avLst/>
            <a:gdLst/>
            <a:ahLst/>
            <a:cxnLst/>
            <a:rect r="r" b="b" t="t" l="l"/>
            <a:pathLst>
              <a:path h="4174226" w="9074405">
                <a:moveTo>
                  <a:pt x="0" y="0"/>
                </a:moveTo>
                <a:lnTo>
                  <a:pt x="9074405" y="0"/>
                </a:lnTo>
                <a:lnTo>
                  <a:pt x="9074405" y="4174227"/>
                </a:lnTo>
                <a:lnTo>
                  <a:pt x="0" y="4174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4945230" y="5321225"/>
            <a:ext cx="9074405" cy="4174226"/>
          </a:xfrm>
          <a:custGeom>
            <a:avLst/>
            <a:gdLst/>
            <a:ahLst/>
            <a:cxnLst/>
            <a:rect r="r" b="b" t="t" l="l"/>
            <a:pathLst>
              <a:path h="4174226" w="9074405">
                <a:moveTo>
                  <a:pt x="0" y="0"/>
                </a:moveTo>
                <a:lnTo>
                  <a:pt x="9074405" y="0"/>
                </a:lnTo>
                <a:lnTo>
                  <a:pt x="9074405" y="4174227"/>
                </a:lnTo>
                <a:lnTo>
                  <a:pt x="0" y="4174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9682047" y="5321225"/>
            <a:ext cx="9074405" cy="4174226"/>
          </a:xfrm>
          <a:custGeom>
            <a:avLst/>
            <a:gdLst/>
            <a:ahLst/>
            <a:cxnLst/>
            <a:rect r="r" b="b" t="t" l="l"/>
            <a:pathLst>
              <a:path h="4174226" w="9074405">
                <a:moveTo>
                  <a:pt x="0" y="0"/>
                </a:moveTo>
                <a:lnTo>
                  <a:pt x="9074405" y="0"/>
                </a:lnTo>
                <a:lnTo>
                  <a:pt x="9074405" y="4174227"/>
                </a:lnTo>
                <a:lnTo>
                  <a:pt x="0" y="4174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5740066" y="-360334"/>
            <a:ext cx="4817598" cy="4184142"/>
          </a:xfrm>
          <a:custGeom>
            <a:avLst/>
            <a:gdLst/>
            <a:ahLst/>
            <a:cxnLst/>
            <a:rect r="r" b="b" t="t" l="l"/>
            <a:pathLst>
              <a:path h="4184142" w="4817598">
                <a:moveTo>
                  <a:pt x="0" y="0"/>
                </a:moveTo>
                <a:lnTo>
                  <a:pt x="4817598" y="0"/>
                </a:lnTo>
                <a:lnTo>
                  <a:pt x="4817598" y="4184143"/>
                </a:lnTo>
                <a:lnTo>
                  <a:pt x="0" y="4184143"/>
                </a:lnTo>
                <a:lnTo>
                  <a:pt x="0" y="0"/>
                </a:lnTo>
                <a:close/>
              </a:path>
            </a:pathLst>
          </a:custGeom>
          <a:blipFill>
            <a:blip r:embed="rId4"/>
            <a:stretch>
              <a:fillRect l="0" t="0" r="0" b="0"/>
            </a:stretch>
          </a:blipFill>
        </p:spPr>
      </p:sp>
      <p:sp>
        <p:nvSpPr>
          <p:cNvPr name="Freeform 6" id="6"/>
          <p:cNvSpPr/>
          <p:nvPr/>
        </p:nvSpPr>
        <p:spPr>
          <a:xfrm flipH="false" flipV="false" rot="0">
            <a:off x="-1914841" y="-1784862"/>
            <a:ext cx="5101092" cy="4365182"/>
          </a:xfrm>
          <a:custGeom>
            <a:avLst/>
            <a:gdLst/>
            <a:ahLst/>
            <a:cxnLst/>
            <a:rect r="r" b="b" t="t" l="l"/>
            <a:pathLst>
              <a:path h="4365182" w="5101092">
                <a:moveTo>
                  <a:pt x="0" y="0"/>
                </a:moveTo>
                <a:lnTo>
                  <a:pt x="5101092" y="0"/>
                </a:lnTo>
                <a:lnTo>
                  <a:pt x="5101092" y="4365181"/>
                </a:lnTo>
                <a:lnTo>
                  <a:pt x="0" y="4365181"/>
                </a:lnTo>
                <a:lnTo>
                  <a:pt x="0" y="0"/>
                </a:lnTo>
                <a:close/>
              </a:path>
            </a:pathLst>
          </a:custGeom>
          <a:blipFill>
            <a:blip r:embed="rId5"/>
            <a:stretch>
              <a:fillRect l="0" t="0" r="0" b="0"/>
            </a:stretch>
          </a:blipFill>
        </p:spPr>
      </p:sp>
      <p:sp>
        <p:nvSpPr>
          <p:cNvPr name="Freeform 7" id="7"/>
          <p:cNvSpPr/>
          <p:nvPr/>
        </p:nvSpPr>
        <p:spPr>
          <a:xfrm flipH="false" flipV="false" rot="0">
            <a:off x="15601849" y="7100342"/>
            <a:ext cx="11495135" cy="4845199"/>
          </a:xfrm>
          <a:custGeom>
            <a:avLst/>
            <a:gdLst/>
            <a:ahLst/>
            <a:cxnLst/>
            <a:rect r="r" b="b" t="t" l="l"/>
            <a:pathLst>
              <a:path h="4845199" w="11495135">
                <a:moveTo>
                  <a:pt x="0" y="0"/>
                </a:moveTo>
                <a:lnTo>
                  <a:pt x="11495135" y="0"/>
                </a:lnTo>
                <a:lnTo>
                  <a:pt x="11495135" y="4845199"/>
                </a:lnTo>
                <a:lnTo>
                  <a:pt x="0" y="4845199"/>
                </a:lnTo>
                <a:lnTo>
                  <a:pt x="0" y="0"/>
                </a:lnTo>
                <a:close/>
              </a:path>
            </a:pathLst>
          </a:custGeom>
          <a:blipFill>
            <a:blip r:embed="rId6"/>
            <a:stretch>
              <a:fillRect l="0" t="0" r="0" b="0"/>
            </a:stretch>
          </a:blipFill>
        </p:spPr>
      </p:sp>
      <p:sp>
        <p:nvSpPr>
          <p:cNvPr name="Freeform 8" id="8"/>
          <p:cNvSpPr/>
          <p:nvPr/>
        </p:nvSpPr>
        <p:spPr>
          <a:xfrm flipH="false" flipV="false" rot="-1072226">
            <a:off x="-769537" y="6074699"/>
            <a:ext cx="2810484" cy="6367201"/>
          </a:xfrm>
          <a:custGeom>
            <a:avLst/>
            <a:gdLst/>
            <a:ahLst/>
            <a:cxnLst/>
            <a:rect r="r" b="b" t="t" l="l"/>
            <a:pathLst>
              <a:path h="6367201" w="2810484">
                <a:moveTo>
                  <a:pt x="0" y="0"/>
                </a:moveTo>
                <a:lnTo>
                  <a:pt x="2810484" y="0"/>
                </a:lnTo>
                <a:lnTo>
                  <a:pt x="2810484" y="6367202"/>
                </a:lnTo>
                <a:lnTo>
                  <a:pt x="0" y="6367202"/>
                </a:lnTo>
                <a:lnTo>
                  <a:pt x="0" y="0"/>
                </a:lnTo>
                <a:close/>
              </a:path>
            </a:pathLst>
          </a:custGeom>
          <a:blipFill>
            <a:blip r:embed="rId7"/>
            <a:stretch>
              <a:fillRect l="0" t="0" r="0" b="0"/>
            </a:stretch>
          </a:blipFill>
        </p:spPr>
      </p:sp>
      <p:sp>
        <p:nvSpPr>
          <p:cNvPr name="Freeform 9" id="9"/>
          <p:cNvSpPr/>
          <p:nvPr/>
        </p:nvSpPr>
        <p:spPr>
          <a:xfrm flipH="false" flipV="false" rot="0">
            <a:off x="13502984" y="3155621"/>
            <a:ext cx="1461470" cy="1849961"/>
          </a:xfrm>
          <a:custGeom>
            <a:avLst/>
            <a:gdLst/>
            <a:ahLst/>
            <a:cxnLst/>
            <a:rect r="r" b="b" t="t" l="l"/>
            <a:pathLst>
              <a:path h="1849961" w="1461470">
                <a:moveTo>
                  <a:pt x="0" y="0"/>
                </a:moveTo>
                <a:lnTo>
                  <a:pt x="1461469" y="0"/>
                </a:lnTo>
                <a:lnTo>
                  <a:pt x="1461469" y="1849962"/>
                </a:lnTo>
                <a:lnTo>
                  <a:pt x="0" y="1849962"/>
                </a:lnTo>
                <a:lnTo>
                  <a:pt x="0" y="0"/>
                </a:lnTo>
                <a:close/>
              </a:path>
            </a:pathLst>
          </a:custGeom>
          <a:blipFill>
            <a:blip r:embed="rId8"/>
            <a:stretch>
              <a:fillRect l="0" t="0" r="0" b="0"/>
            </a:stretch>
          </a:blipFill>
        </p:spPr>
      </p:sp>
      <p:sp>
        <p:nvSpPr>
          <p:cNvPr name="Freeform 10" id="10"/>
          <p:cNvSpPr/>
          <p:nvPr/>
        </p:nvSpPr>
        <p:spPr>
          <a:xfrm flipH="false" flipV="false" rot="0">
            <a:off x="8773202" y="3232917"/>
            <a:ext cx="1418460" cy="1695370"/>
          </a:xfrm>
          <a:custGeom>
            <a:avLst/>
            <a:gdLst/>
            <a:ahLst/>
            <a:cxnLst/>
            <a:rect r="r" b="b" t="t" l="l"/>
            <a:pathLst>
              <a:path h="1695370" w="1418460">
                <a:moveTo>
                  <a:pt x="0" y="0"/>
                </a:moveTo>
                <a:lnTo>
                  <a:pt x="1418460" y="0"/>
                </a:lnTo>
                <a:lnTo>
                  <a:pt x="1418460" y="1695370"/>
                </a:lnTo>
                <a:lnTo>
                  <a:pt x="0" y="1695370"/>
                </a:lnTo>
                <a:lnTo>
                  <a:pt x="0" y="0"/>
                </a:lnTo>
                <a:close/>
              </a:path>
            </a:pathLst>
          </a:custGeom>
          <a:blipFill>
            <a:blip r:embed="rId9"/>
            <a:stretch>
              <a:fillRect l="0" t="0" r="0" b="0"/>
            </a:stretch>
          </a:blipFill>
        </p:spPr>
      </p:sp>
      <p:sp>
        <p:nvSpPr>
          <p:cNvPr name="Freeform 11" id="11"/>
          <p:cNvSpPr/>
          <p:nvPr/>
        </p:nvSpPr>
        <p:spPr>
          <a:xfrm flipH="false" flipV="false" rot="0">
            <a:off x="3967259" y="3490185"/>
            <a:ext cx="1222079" cy="1695370"/>
          </a:xfrm>
          <a:custGeom>
            <a:avLst/>
            <a:gdLst/>
            <a:ahLst/>
            <a:cxnLst/>
            <a:rect r="r" b="b" t="t" l="l"/>
            <a:pathLst>
              <a:path h="1695370" w="1222079">
                <a:moveTo>
                  <a:pt x="0" y="0"/>
                </a:moveTo>
                <a:lnTo>
                  <a:pt x="1222079" y="0"/>
                </a:lnTo>
                <a:lnTo>
                  <a:pt x="1222079" y="1695370"/>
                </a:lnTo>
                <a:lnTo>
                  <a:pt x="0" y="1695370"/>
                </a:lnTo>
                <a:lnTo>
                  <a:pt x="0" y="0"/>
                </a:lnTo>
                <a:close/>
              </a:path>
            </a:pathLst>
          </a:custGeom>
          <a:blipFill>
            <a:blip r:embed="rId10"/>
            <a:stretch>
              <a:fillRect l="0" t="0" r="0" b="0"/>
            </a:stretch>
          </a:blipFill>
        </p:spPr>
      </p:sp>
      <p:sp>
        <p:nvSpPr>
          <p:cNvPr name="TextBox 12" id="12"/>
          <p:cNvSpPr txBox="true"/>
          <p:nvPr/>
        </p:nvSpPr>
        <p:spPr>
          <a:xfrm rot="0">
            <a:off x="4578298" y="621624"/>
            <a:ext cx="9361109" cy="2868561"/>
          </a:xfrm>
          <a:prstGeom prst="rect">
            <a:avLst/>
          </a:prstGeom>
        </p:spPr>
        <p:txBody>
          <a:bodyPr anchor="t" rtlCol="false" tIns="0" lIns="0" bIns="0" rIns="0">
            <a:spAutoFit/>
          </a:bodyPr>
          <a:lstStyle/>
          <a:p>
            <a:pPr algn="ctr">
              <a:lnSpc>
                <a:spcPts val="7106"/>
              </a:lnSpc>
            </a:pPr>
            <a:r>
              <a:rPr lang="en-US" sz="9869">
                <a:solidFill>
                  <a:srgbClr val="6866E1"/>
                </a:solidFill>
                <a:latin typeface="Computer Says No"/>
                <a:ea typeface="Computer Says No"/>
                <a:cs typeface="Computer Says No"/>
                <a:sym typeface="Computer Says No"/>
              </a:rPr>
              <a:t>PROBLEM AND MARKET OPPORTUNITY</a:t>
            </a:r>
          </a:p>
          <a:p>
            <a:pPr algn="ctr" marL="0" indent="0" lvl="0">
              <a:lnSpc>
                <a:spcPts val="7106"/>
              </a:lnSpc>
              <a:spcBef>
                <a:spcPct val="0"/>
              </a:spcBef>
            </a:pPr>
          </a:p>
        </p:txBody>
      </p:sp>
      <p:sp>
        <p:nvSpPr>
          <p:cNvPr name="TextBox 13" id="13"/>
          <p:cNvSpPr txBox="true"/>
          <p:nvPr/>
        </p:nvSpPr>
        <p:spPr>
          <a:xfrm rot="0">
            <a:off x="2950086" y="5194987"/>
            <a:ext cx="3289996" cy="1234775"/>
          </a:xfrm>
          <a:prstGeom prst="rect">
            <a:avLst/>
          </a:prstGeom>
        </p:spPr>
        <p:txBody>
          <a:bodyPr anchor="t" rtlCol="false" tIns="0" lIns="0" bIns="0" rIns="0">
            <a:spAutoFit/>
          </a:bodyPr>
          <a:lstStyle/>
          <a:p>
            <a:pPr algn="ctr" marL="0" indent="0" lvl="0">
              <a:lnSpc>
                <a:spcPts val="4458"/>
              </a:lnSpc>
              <a:spcBef>
                <a:spcPct val="0"/>
              </a:spcBef>
            </a:pPr>
            <a:r>
              <a:rPr lang="en-US" sz="6192">
                <a:solidFill>
                  <a:srgbClr val="BF78FE"/>
                </a:solidFill>
                <a:latin typeface="Computer Says No"/>
                <a:ea typeface="Computer Says No"/>
                <a:cs typeface="Computer Says No"/>
                <a:sym typeface="Computer Says No"/>
              </a:rPr>
              <a:t> PROPOSED SOLUTION</a:t>
            </a:r>
          </a:p>
        </p:txBody>
      </p:sp>
      <p:sp>
        <p:nvSpPr>
          <p:cNvPr name="TextBox 14" id="14"/>
          <p:cNvSpPr txBox="true"/>
          <p:nvPr/>
        </p:nvSpPr>
        <p:spPr>
          <a:xfrm rot="0">
            <a:off x="3100335" y="6188640"/>
            <a:ext cx="3037045" cy="3958272"/>
          </a:xfrm>
          <a:prstGeom prst="rect">
            <a:avLst/>
          </a:prstGeom>
        </p:spPr>
        <p:txBody>
          <a:bodyPr anchor="t" rtlCol="false" tIns="0" lIns="0" bIns="0" rIns="0">
            <a:spAutoFit/>
          </a:bodyPr>
          <a:lstStyle/>
          <a:p>
            <a:pPr algn="ctr">
              <a:lnSpc>
                <a:spcPts val="2439"/>
              </a:lnSpc>
            </a:pPr>
            <a:r>
              <a:rPr lang="en-US" sz="1505">
                <a:solidFill>
                  <a:srgbClr val="FFFFFF"/>
                </a:solidFill>
                <a:latin typeface="Poppins Light"/>
                <a:ea typeface="Poppins Light"/>
                <a:cs typeface="Poppins Light"/>
                <a:sym typeface="Poppins Light"/>
              </a:rPr>
              <a:t>Handwriting Authentication</a:t>
            </a:r>
          </a:p>
          <a:p>
            <a:pPr algn="ctr">
              <a:lnSpc>
                <a:spcPts val="2439"/>
              </a:lnSpc>
            </a:pP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Verifies student identity</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Matches handwriting to registered baseline patterns</a:t>
            </a:r>
          </a:p>
          <a:p>
            <a:pPr algn="ctr">
              <a:lnSpc>
                <a:spcPts val="2439"/>
              </a:lnSpc>
            </a:pPr>
          </a:p>
          <a:p>
            <a:pPr algn="ctr">
              <a:lnSpc>
                <a:spcPts val="2439"/>
              </a:lnSpc>
            </a:pPr>
            <a:r>
              <a:rPr lang="en-US" sz="1505">
                <a:solidFill>
                  <a:srgbClr val="FFFFFF"/>
                </a:solidFill>
                <a:latin typeface="Poppins Light"/>
                <a:ea typeface="Poppins Light"/>
                <a:cs typeface="Poppins Light"/>
                <a:sym typeface="Poppins Light"/>
              </a:rPr>
              <a:t> </a:t>
            </a:r>
            <a:r>
              <a:rPr lang="en-US" sz="1505">
                <a:solidFill>
                  <a:srgbClr val="FFFFFF"/>
                </a:solidFill>
                <a:latin typeface="Poppins Light"/>
                <a:ea typeface="Poppins Light"/>
                <a:cs typeface="Poppins Light"/>
                <a:sym typeface="Poppins Light"/>
              </a:rPr>
              <a:t>Automated Grading</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Extracts handwritten text</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Compares answers with professor answer keys</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Professors review only low-confidence cases</a:t>
            </a:r>
          </a:p>
          <a:p>
            <a:pPr algn="ctr">
              <a:lnSpc>
                <a:spcPts val="2439"/>
              </a:lnSpc>
            </a:pPr>
          </a:p>
        </p:txBody>
      </p:sp>
      <p:sp>
        <p:nvSpPr>
          <p:cNvPr name="TextBox 15" id="15"/>
          <p:cNvSpPr txBox="true"/>
          <p:nvPr/>
        </p:nvSpPr>
        <p:spPr>
          <a:xfrm rot="0">
            <a:off x="7774056" y="5049613"/>
            <a:ext cx="3289996" cy="2358725"/>
          </a:xfrm>
          <a:prstGeom prst="rect">
            <a:avLst/>
          </a:prstGeom>
        </p:spPr>
        <p:txBody>
          <a:bodyPr anchor="t" rtlCol="false" tIns="0" lIns="0" bIns="0" rIns="0">
            <a:spAutoFit/>
          </a:bodyPr>
          <a:lstStyle/>
          <a:p>
            <a:pPr algn="ctr">
              <a:lnSpc>
                <a:spcPts val="4458"/>
              </a:lnSpc>
            </a:pPr>
            <a:r>
              <a:rPr lang="en-US" sz="6192">
                <a:solidFill>
                  <a:srgbClr val="BF78FE"/>
                </a:solidFill>
                <a:latin typeface="Computer Says No"/>
                <a:ea typeface="Computer Says No"/>
                <a:cs typeface="Computer Says No"/>
                <a:sym typeface="Computer Says No"/>
              </a:rPr>
              <a:t>CURRENT PROJECT SCOPE</a:t>
            </a:r>
          </a:p>
          <a:p>
            <a:pPr algn="ctr">
              <a:lnSpc>
                <a:spcPts val="4458"/>
              </a:lnSpc>
            </a:pPr>
          </a:p>
          <a:p>
            <a:pPr algn="ctr" marL="0" indent="0" lvl="0">
              <a:lnSpc>
                <a:spcPts val="4458"/>
              </a:lnSpc>
              <a:spcBef>
                <a:spcPct val="0"/>
              </a:spcBef>
            </a:pPr>
          </a:p>
        </p:txBody>
      </p:sp>
      <p:sp>
        <p:nvSpPr>
          <p:cNvPr name="TextBox 16" id="16"/>
          <p:cNvSpPr txBox="true"/>
          <p:nvPr/>
        </p:nvSpPr>
        <p:spPr>
          <a:xfrm rot="0">
            <a:off x="12588721" y="5194987"/>
            <a:ext cx="3289996" cy="1234775"/>
          </a:xfrm>
          <a:prstGeom prst="rect">
            <a:avLst/>
          </a:prstGeom>
        </p:spPr>
        <p:txBody>
          <a:bodyPr anchor="t" rtlCol="false" tIns="0" lIns="0" bIns="0" rIns="0">
            <a:spAutoFit/>
          </a:bodyPr>
          <a:lstStyle/>
          <a:p>
            <a:pPr algn="ctr" marL="0" indent="0" lvl="0">
              <a:lnSpc>
                <a:spcPts val="4458"/>
              </a:lnSpc>
              <a:spcBef>
                <a:spcPct val="0"/>
              </a:spcBef>
            </a:pPr>
            <a:r>
              <a:rPr lang="en-US" sz="6192">
                <a:solidFill>
                  <a:srgbClr val="BF78FE"/>
                </a:solidFill>
                <a:latin typeface="Computer Says No"/>
                <a:ea typeface="Computer Says No"/>
                <a:cs typeface="Computer Says No"/>
                <a:sym typeface="Computer Says No"/>
              </a:rPr>
              <a:t>FUTURE EXTENSION</a:t>
            </a:r>
          </a:p>
        </p:txBody>
      </p:sp>
      <p:sp>
        <p:nvSpPr>
          <p:cNvPr name="TextBox 17" id="17"/>
          <p:cNvSpPr txBox="true"/>
          <p:nvPr/>
        </p:nvSpPr>
        <p:spPr>
          <a:xfrm rot="0">
            <a:off x="7963910" y="6302306"/>
            <a:ext cx="3037045" cy="2129472"/>
          </a:xfrm>
          <a:prstGeom prst="rect">
            <a:avLst/>
          </a:prstGeom>
        </p:spPr>
        <p:txBody>
          <a:bodyPr anchor="t" rtlCol="false" tIns="0" lIns="0" bIns="0" rIns="0">
            <a:spAutoFit/>
          </a:bodyPr>
          <a:lstStyle/>
          <a:p>
            <a:pPr algn="ctr">
              <a:lnSpc>
                <a:spcPts val="2439"/>
              </a:lnSpc>
            </a:pPr>
            <a:r>
              <a:rPr lang="en-US" sz="1505">
                <a:solidFill>
                  <a:srgbClr val="FFFFFF"/>
                </a:solidFill>
                <a:latin typeface="Poppins Light"/>
                <a:ea typeface="Poppins Light"/>
                <a:cs typeface="Poppins Light"/>
                <a:sym typeface="Poppins Light"/>
              </a:rPr>
              <a:t>Recognizes:</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Handwritten digits</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Geometric shapes</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Custom symbols</a:t>
            </a:r>
          </a:p>
          <a:p>
            <a:pPr algn="ctr">
              <a:lnSpc>
                <a:spcPts val="2439"/>
              </a:lnSpc>
            </a:pPr>
            <a:r>
              <a:rPr lang="en-US" sz="1505">
                <a:solidFill>
                  <a:srgbClr val="FFFFFF"/>
                </a:solidFill>
                <a:latin typeface="Poppins Light"/>
                <a:ea typeface="Poppins Light"/>
                <a:cs typeface="Poppins Light"/>
                <a:sym typeface="Poppins Light"/>
              </a:rPr>
              <a:t>Serves as core pattern recognition engine</a:t>
            </a:r>
          </a:p>
          <a:p>
            <a:pPr algn="ctr">
              <a:lnSpc>
                <a:spcPts val="2439"/>
              </a:lnSpc>
            </a:pPr>
          </a:p>
        </p:txBody>
      </p:sp>
      <p:sp>
        <p:nvSpPr>
          <p:cNvPr name="TextBox 18" id="18"/>
          <p:cNvSpPr txBox="true"/>
          <p:nvPr/>
        </p:nvSpPr>
        <p:spPr>
          <a:xfrm rot="0">
            <a:off x="12703021" y="6302306"/>
            <a:ext cx="3037045" cy="1824672"/>
          </a:xfrm>
          <a:prstGeom prst="rect">
            <a:avLst/>
          </a:prstGeom>
        </p:spPr>
        <p:txBody>
          <a:bodyPr anchor="t" rtlCol="false" tIns="0" lIns="0" bIns="0" rIns="0">
            <a:spAutoFit/>
          </a:bodyPr>
          <a:lstStyle/>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Full handwriting recognition</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Character-by-character authentication</a:t>
            </a:r>
          </a:p>
          <a:p>
            <a:pPr algn="ctr" marL="325137" indent="-162569" lvl="1">
              <a:lnSpc>
                <a:spcPts val="2439"/>
              </a:lnSpc>
              <a:buFont typeface="Arial"/>
              <a:buChar char="•"/>
            </a:pPr>
            <a:r>
              <a:rPr lang="en-US" sz="1505">
                <a:solidFill>
                  <a:srgbClr val="FFFFFF"/>
                </a:solidFill>
                <a:latin typeface="Poppins Light"/>
                <a:ea typeface="Poppins Light"/>
                <a:cs typeface="Poppins Light"/>
                <a:sym typeface="Poppins Light"/>
              </a:rPr>
              <a:t>Text similarity analysis for grading automation</a:t>
            </a:r>
          </a:p>
          <a:p>
            <a:pPr algn="ctr">
              <a:lnSpc>
                <a:spcPts val="243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069">
                <a:alpha val="100000"/>
              </a:srgbClr>
            </a:gs>
            <a:gs pos="50000">
              <a:srgbClr val="5527F5">
                <a:alpha val="100000"/>
              </a:srgbClr>
            </a:gs>
            <a:gs pos="100000">
              <a:srgbClr val="131FA8">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1830357" y="-902150"/>
            <a:ext cx="6173053" cy="2601942"/>
          </a:xfrm>
          <a:custGeom>
            <a:avLst/>
            <a:gdLst/>
            <a:ahLst/>
            <a:cxnLst/>
            <a:rect r="r" b="b" t="t" l="l"/>
            <a:pathLst>
              <a:path h="2601942" w="6173053">
                <a:moveTo>
                  <a:pt x="0" y="0"/>
                </a:moveTo>
                <a:lnTo>
                  <a:pt x="6173052" y="0"/>
                </a:lnTo>
                <a:lnTo>
                  <a:pt x="6173052" y="2601941"/>
                </a:lnTo>
                <a:lnTo>
                  <a:pt x="0" y="2601941"/>
                </a:lnTo>
                <a:lnTo>
                  <a:pt x="0" y="0"/>
                </a:lnTo>
                <a:close/>
              </a:path>
            </a:pathLst>
          </a:custGeom>
          <a:blipFill>
            <a:blip r:embed="rId2"/>
            <a:stretch>
              <a:fillRect l="0" t="0" r="0" b="0"/>
            </a:stretch>
          </a:blipFill>
        </p:spPr>
      </p:sp>
      <p:sp>
        <p:nvSpPr>
          <p:cNvPr name="Freeform 3" id="3"/>
          <p:cNvSpPr/>
          <p:nvPr/>
        </p:nvSpPr>
        <p:spPr>
          <a:xfrm flipH="false" flipV="false" rot="0">
            <a:off x="13315548" y="8986029"/>
            <a:ext cx="6173053" cy="2601942"/>
          </a:xfrm>
          <a:custGeom>
            <a:avLst/>
            <a:gdLst/>
            <a:ahLst/>
            <a:cxnLst/>
            <a:rect r="r" b="b" t="t" l="l"/>
            <a:pathLst>
              <a:path h="2601942" w="6173053">
                <a:moveTo>
                  <a:pt x="0" y="0"/>
                </a:moveTo>
                <a:lnTo>
                  <a:pt x="6173052" y="0"/>
                </a:lnTo>
                <a:lnTo>
                  <a:pt x="6173052" y="2601942"/>
                </a:lnTo>
                <a:lnTo>
                  <a:pt x="0" y="2601942"/>
                </a:lnTo>
                <a:lnTo>
                  <a:pt x="0" y="0"/>
                </a:lnTo>
                <a:close/>
              </a:path>
            </a:pathLst>
          </a:custGeom>
          <a:blipFill>
            <a:blip r:embed="rId2"/>
            <a:stretch>
              <a:fillRect l="0" t="0" r="0" b="0"/>
            </a:stretch>
          </a:blipFill>
        </p:spPr>
      </p:sp>
      <p:sp>
        <p:nvSpPr>
          <p:cNvPr name="Freeform 4" id="4"/>
          <p:cNvSpPr/>
          <p:nvPr/>
        </p:nvSpPr>
        <p:spPr>
          <a:xfrm flipH="false" flipV="false" rot="3091052">
            <a:off x="-1684467" y="5508041"/>
            <a:ext cx="6638823" cy="5976180"/>
          </a:xfrm>
          <a:custGeom>
            <a:avLst/>
            <a:gdLst/>
            <a:ahLst/>
            <a:cxnLst/>
            <a:rect r="r" b="b" t="t" l="l"/>
            <a:pathLst>
              <a:path h="5976180" w="6638823">
                <a:moveTo>
                  <a:pt x="0" y="0"/>
                </a:moveTo>
                <a:lnTo>
                  <a:pt x="6638824" y="0"/>
                </a:lnTo>
                <a:lnTo>
                  <a:pt x="6638824" y="5976180"/>
                </a:lnTo>
                <a:lnTo>
                  <a:pt x="0" y="5976180"/>
                </a:lnTo>
                <a:lnTo>
                  <a:pt x="0" y="0"/>
                </a:lnTo>
                <a:close/>
              </a:path>
            </a:pathLst>
          </a:custGeom>
          <a:blipFill>
            <a:blip r:embed="rId3"/>
            <a:stretch>
              <a:fillRect l="0" t="0" r="0" b="0"/>
            </a:stretch>
          </a:blipFill>
        </p:spPr>
      </p:sp>
      <p:sp>
        <p:nvSpPr>
          <p:cNvPr name="Freeform 5" id="5"/>
          <p:cNvSpPr/>
          <p:nvPr/>
        </p:nvSpPr>
        <p:spPr>
          <a:xfrm flipH="false" flipV="false" rot="3091052">
            <a:off x="13048963" y="-5984494"/>
            <a:ext cx="11291757" cy="10164688"/>
          </a:xfrm>
          <a:custGeom>
            <a:avLst/>
            <a:gdLst/>
            <a:ahLst/>
            <a:cxnLst/>
            <a:rect r="r" b="b" t="t" l="l"/>
            <a:pathLst>
              <a:path h="10164688" w="11291757">
                <a:moveTo>
                  <a:pt x="0" y="0"/>
                </a:moveTo>
                <a:lnTo>
                  <a:pt x="11291757" y="0"/>
                </a:lnTo>
                <a:lnTo>
                  <a:pt x="11291757" y="10164687"/>
                </a:lnTo>
                <a:lnTo>
                  <a:pt x="0" y="10164687"/>
                </a:lnTo>
                <a:lnTo>
                  <a:pt x="0" y="0"/>
                </a:lnTo>
                <a:close/>
              </a:path>
            </a:pathLst>
          </a:custGeom>
          <a:blipFill>
            <a:blip r:embed="rId3"/>
            <a:stretch>
              <a:fillRect l="0" t="0" r="0" b="0"/>
            </a:stretch>
          </a:blipFill>
        </p:spPr>
      </p:sp>
      <p:sp>
        <p:nvSpPr>
          <p:cNvPr name="Freeform 6" id="6"/>
          <p:cNvSpPr/>
          <p:nvPr/>
        </p:nvSpPr>
        <p:spPr>
          <a:xfrm flipH="true" flipV="false" rot="0">
            <a:off x="9297235" y="1880213"/>
            <a:ext cx="8036625" cy="5957149"/>
          </a:xfrm>
          <a:custGeom>
            <a:avLst/>
            <a:gdLst/>
            <a:ahLst/>
            <a:cxnLst/>
            <a:rect r="r" b="b" t="t" l="l"/>
            <a:pathLst>
              <a:path h="5957149" w="8036625">
                <a:moveTo>
                  <a:pt x="8036625" y="0"/>
                </a:moveTo>
                <a:lnTo>
                  <a:pt x="0" y="0"/>
                </a:lnTo>
                <a:lnTo>
                  <a:pt x="0" y="5957149"/>
                </a:lnTo>
                <a:lnTo>
                  <a:pt x="8036625" y="5957149"/>
                </a:lnTo>
                <a:lnTo>
                  <a:pt x="8036625" y="0"/>
                </a:lnTo>
                <a:close/>
              </a:path>
            </a:pathLst>
          </a:custGeom>
          <a:blipFill>
            <a:blip r:embed="rId4"/>
            <a:stretch>
              <a:fillRect l="0" t="0" r="0" b="0"/>
            </a:stretch>
          </a:blipFill>
        </p:spPr>
      </p:sp>
      <p:sp>
        <p:nvSpPr>
          <p:cNvPr name="Freeform 7" id="7"/>
          <p:cNvSpPr/>
          <p:nvPr/>
        </p:nvSpPr>
        <p:spPr>
          <a:xfrm flipH="false" flipV="false" rot="0">
            <a:off x="12913547" y="4038286"/>
            <a:ext cx="5781294" cy="8229600"/>
          </a:xfrm>
          <a:custGeom>
            <a:avLst/>
            <a:gdLst/>
            <a:ahLst/>
            <a:cxnLst/>
            <a:rect r="r" b="b" t="t" l="l"/>
            <a:pathLst>
              <a:path h="8229600" w="5781294">
                <a:moveTo>
                  <a:pt x="0" y="0"/>
                </a:moveTo>
                <a:lnTo>
                  <a:pt x="5781294" y="0"/>
                </a:lnTo>
                <a:lnTo>
                  <a:pt x="5781294" y="8229600"/>
                </a:lnTo>
                <a:lnTo>
                  <a:pt x="0" y="8229600"/>
                </a:lnTo>
                <a:lnTo>
                  <a:pt x="0" y="0"/>
                </a:lnTo>
                <a:close/>
              </a:path>
            </a:pathLst>
          </a:custGeom>
          <a:blipFill>
            <a:blip r:embed="rId5"/>
            <a:stretch>
              <a:fillRect l="0" t="0" r="0" b="0"/>
            </a:stretch>
          </a:blipFill>
        </p:spPr>
      </p:sp>
      <p:sp>
        <p:nvSpPr>
          <p:cNvPr name="TextBox 8" id="8"/>
          <p:cNvSpPr txBox="true"/>
          <p:nvPr/>
        </p:nvSpPr>
        <p:spPr>
          <a:xfrm rot="0">
            <a:off x="1028700" y="4208450"/>
            <a:ext cx="8609493" cy="4649360"/>
          </a:xfrm>
          <a:prstGeom prst="rect">
            <a:avLst/>
          </a:prstGeom>
        </p:spPr>
        <p:txBody>
          <a:bodyPr anchor="t" rtlCol="false" tIns="0" lIns="0" bIns="0" rIns="0">
            <a:spAutoFit/>
          </a:bodyPr>
          <a:lstStyle/>
          <a:p>
            <a:pPr algn="ctr" marL="0" indent="0" lvl="0">
              <a:lnSpc>
                <a:spcPts val="16889"/>
              </a:lnSpc>
              <a:spcBef>
                <a:spcPct val="0"/>
              </a:spcBef>
            </a:pPr>
            <a:r>
              <a:rPr lang="en-US" sz="23458">
                <a:solidFill>
                  <a:srgbClr val="6866E1"/>
                </a:solidFill>
                <a:latin typeface="Computer Says No"/>
                <a:ea typeface="Computer Says No"/>
                <a:cs typeface="Computer Says No"/>
                <a:sym typeface="Computer Says No"/>
              </a:rPr>
              <a:t>TARGET CUSTOMERS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3916" r="0" b="-86898"/>
            </a:stretch>
          </a:blipFill>
        </p:spPr>
      </p:sp>
      <p:sp>
        <p:nvSpPr>
          <p:cNvPr name="Freeform 3" id="3"/>
          <p:cNvSpPr/>
          <p:nvPr/>
        </p:nvSpPr>
        <p:spPr>
          <a:xfrm flipH="false" flipV="false" rot="0">
            <a:off x="2934527" y="1535574"/>
            <a:ext cx="3497870" cy="3497870"/>
          </a:xfrm>
          <a:custGeom>
            <a:avLst/>
            <a:gdLst/>
            <a:ahLst/>
            <a:cxnLst/>
            <a:rect r="r" b="b" t="t" l="l"/>
            <a:pathLst>
              <a:path h="3497870" w="3497870">
                <a:moveTo>
                  <a:pt x="0" y="0"/>
                </a:moveTo>
                <a:lnTo>
                  <a:pt x="3497870" y="0"/>
                </a:lnTo>
                <a:lnTo>
                  <a:pt x="3497870" y="3497870"/>
                </a:lnTo>
                <a:lnTo>
                  <a:pt x="0" y="3497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817903" y="3447501"/>
            <a:ext cx="3497870" cy="3497870"/>
          </a:xfrm>
          <a:custGeom>
            <a:avLst/>
            <a:gdLst/>
            <a:ahLst/>
            <a:cxnLst/>
            <a:rect r="r" b="b" t="t" l="l"/>
            <a:pathLst>
              <a:path h="3497870" w="3497870">
                <a:moveTo>
                  <a:pt x="0" y="0"/>
                </a:moveTo>
                <a:lnTo>
                  <a:pt x="3497870" y="0"/>
                </a:lnTo>
                <a:lnTo>
                  <a:pt x="3497870" y="3497870"/>
                </a:lnTo>
                <a:lnTo>
                  <a:pt x="0" y="3497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931282" y="5253556"/>
            <a:ext cx="3497870" cy="3497870"/>
          </a:xfrm>
          <a:custGeom>
            <a:avLst/>
            <a:gdLst/>
            <a:ahLst/>
            <a:cxnLst/>
            <a:rect r="r" b="b" t="t" l="l"/>
            <a:pathLst>
              <a:path h="3497870" w="3497870">
                <a:moveTo>
                  <a:pt x="0" y="0"/>
                </a:moveTo>
                <a:lnTo>
                  <a:pt x="3497871" y="0"/>
                </a:lnTo>
                <a:lnTo>
                  <a:pt x="3497871" y="3497870"/>
                </a:lnTo>
                <a:lnTo>
                  <a:pt x="0" y="3497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3447501"/>
            <a:ext cx="3497870" cy="3497870"/>
          </a:xfrm>
          <a:custGeom>
            <a:avLst/>
            <a:gdLst/>
            <a:ahLst/>
            <a:cxnLst/>
            <a:rect r="r" b="b" t="t" l="l"/>
            <a:pathLst>
              <a:path h="3497870" w="3497870">
                <a:moveTo>
                  <a:pt x="0" y="0"/>
                </a:moveTo>
                <a:lnTo>
                  <a:pt x="3497870" y="0"/>
                </a:lnTo>
                <a:lnTo>
                  <a:pt x="3497870" y="3497870"/>
                </a:lnTo>
                <a:lnTo>
                  <a:pt x="0" y="34978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3900191" y="-3935015"/>
            <a:ext cx="7800381" cy="6821864"/>
          </a:xfrm>
          <a:custGeom>
            <a:avLst/>
            <a:gdLst/>
            <a:ahLst/>
            <a:cxnLst/>
            <a:rect r="r" b="b" t="t" l="l"/>
            <a:pathLst>
              <a:path h="6821864" w="7800381">
                <a:moveTo>
                  <a:pt x="0" y="0"/>
                </a:moveTo>
                <a:lnTo>
                  <a:pt x="7800382" y="0"/>
                </a:lnTo>
                <a:lnTo>
                  <a:pt x="7800382" y="6821864"/>
                </a:lnTo>
                <a:lnTo>
                  <a:pt x="0" y="6821864"/>
                </a:lnTo>
                <a:lnTo>
                  <a:pt x="0" y="0"/>
                </a:lnTo>
                <a:close/>
              </a:path>
            </a:pathLst>
          </a:custGeom>
          <a:blipFill>
            <a:blip r:embed="rId5"/>
            <a:stretch>
              <a:fillRect l="0" t="0" r="0" b="0"/>
            </a:stretch>
          </a:blipFill>
        </p:spPr>
      </p:sp>
      <p:sp>
        <p:nvSpPr>
          <p:cNvPr name="TextBox 8" id="8"/>
          <p:cNvSpPr txBox="true"/>
          <p:nvPr/>
        </p:nvSpPr>
        <p:spPr>
          <a:xfrm rot="0">
            <a:off x="9378393" y="707234"/>
            <a:ext cx="5121714" cy="8760784"/>
          </a:xfrm>
          <a:prstGeom prst="rect">
            <a:avLst/>
          </a:prstGeom>
        </p:spPr>
        <p:txBody>
          <a:bodyPr anchor="t" rtlCol="false" tIns="0" lIns="0" bIns="0" rIns="0">
            <a:spAutoFit/>
          </a:bodyPr>
          <a:lstStyle/>
          <a:p>
            <a:pPr algn="l" marL="1212845" indent="-606423" lvl="1">
              <a:lnSpc>
                <a:spcPts val="4044"/>
              </a:lnSpc>
              <a:buFont typeface="Arial"/>
              <a:buChar char="•"/>
            </a:pPr>
            <a:r>
              <a:rPr lang="en-US" sz="5617">
                <a:solidFill>
                  <a:srgbClr val="6866E1"/>
                </a:solidFill>
                <a:latin typeface="Computer Says No"/>
                <a:ea typeface="Computer Says No"/>
                <a:cs typeface="Computer Says No"/>
                <a:sym typeface="Computer Says No"/>
              </a:rPr>
              <a:t>UNIVERSITIES AND COLLEGES PROCESSING HANDWRITTEN EXAMS AND ASSIGNMENTS</a:t>
            </a:r>
          </a:p>
          <a:p>
            <a:pPr algn="l" marL="1212845" indent="-606423" lvl="1">
              <a:lnSpc>
                <a:spcPts val="4044"/>
              </a:lnSpc>
              <a:buFont typeface="Arial"/>
              <a:buChar char="•"/>
            </a:pPr>
            <a:r>
              <a:rPr lang="en-US" sz="5617">
                <a:solidFill>
                  <a:srgbClr val="6866E1"/>
                </a:solidFill>
                <a:latin typeface="Computer Says No"/>
                <a:ea typeface="Computer Says No"/>
                <a:cs typeface="Computer Says No"/>
                <a:sym typeface="Computer Says No"/>
              </a:rPr>
              <a:t>K–12 SCHOOLS GRADING WRITTEN WORKSHEETS AND TESTS</a:t>
            </a:r>
          </a:p>
          <a:p>
            <a:pPr algn="l" marL="1212845" indent="-606423" lvl="1">
              <a:lnSpc>
                <a:spcPts val="4044"/>
              </a:lnSpc>
              <a:buFont typeface="Arial"/>
              <a:buChar char="•"/>
            </a:pPr>
            <a:r>
              <a:rPr lang="en-US" sz="5617">
                <a:solidFill>
                  <a:srgbClr val="6866E1"/>
                </a:solidFill>
                <a:latin typeface="Computer Says No"/>
                <a:ea typeface="Computer Says No"/>
                <a:cs typeface="Computer Says No"/>
                <a:sym typeface="Computer Says No"/>
              </a:rPr>
              <a:t>RESEARCH INSTITUTIONS ANALYZING HANDWRITING PATTERNS IN ACADEMIC SUBMISSIONS</a:t>
            </a:r>
          </a:p>
          <a:p>
            <a:pPr algn="l" marL="0" indent="0" lvl="0">
              <a:lnSpc>
                <a:spcPts val="4044"/>
              </a:lnSpc>
              <a:spcBef>
                <a:spcPct val="0"/>
              </a:spcBef>
            </a:pPr>
          </a:p>
        </p:txBody>
      </p:sp>
      <p:sp>
        <p:nvSpPr>
          <p:cNvPr name="TextBox 9" id="9"/>
          <p:cNvSpPr txBox="true"/>
          <p:nvPr/>
        </p:nvSpPr>
        <p:spPr>
          <a:xfrm rot="0">
            <a:off x="2267819" y="4861602"/>
            <a:ext cx="1019633" cy="1355408"/>
          </a:xfrm>
          <a:prstGeom prst="rect">
            <a:avLst/>
          </a:prstGeom>
        </p:spPr>
        <p:txBody>
          <a:bodyPr anchor="t" rtlCol="false" tIns="0" lIns="0" bIns="0" rIns="0">
            <a:spAutoFit/>
          </a:bodyPr>
          <a:lstStyle/>
          <a:p>
            <a:pPr algn="ctr" marL="0" indent="0" lvl="0">
              <a:lnSpc>
                <a:spcPts val="9146"/>
              </a:lnSpc>
              <a:spcBef>
                <a:spcPct val="0"/>
              </a:spcBef>
            </a:pPr>
            <a:r>
              <a:rPr lang="en-US" sz="12703">
                <a:solidFill>
                  <a:srgbClr val="6866E1"/>
                </a:solidFill>
                <a:latin typeface="Computer Says No"/>
                <a:ea typeface="Computer Says No"/>
                <a:cs typeface="Computer Says No"/>
                <a:sym typeface="Computer Says No"/>
              </a:rPr>
              <a:t>04</a:t>
            </a:r>
          </a:p>
        </p:txBody>
      </p:sp>
      <p:sp>
        <p:nvSpPr>
          <p:cNvPr name="TextBox 10" id="10"/>
          <p:cNvSpPr txBox="true"/>
          <p:nvPr/>
        </p:nvSpPr>
        <p:spPr>
          <a:xfrm rot="0">
            <a:off x="4173645" y="2892555"/>
            <a:ext cx="1019633" cy="1355408"/>
          </a:xfrm>
          <a:prstGeom prst="rect">
            <a:avLst/>
          </a:prstGeom>
        </p:spPr>
        <p:txBody>
          <a:bodyPr anchor="t" rtlCol="false" tIns="0" lIns="0" bIns="0" rIns="0">
            <a:spAutoFit/>
          </a:bodyPr>
          <a:lstStyle/>
          <a:p>
            <a:pPr algn="ctr" marL="0" indent="0" lvl="0">
              <a:lnSpc>
                <a:spcPts val="9146"/>
              </a:lnSpc>
              <a:spcBef>
                <a:spcPct val="0"/>
              </a:spcBef>
            </a:pPr>
            <a:r>
              <a:rPr lang="en-US" sz="12703">
                <a:solidFill>
                  <a:srgbClr val="6866E1"/>
                </a:solidFill>
                <a:latin typeface="Computer Says No"/>
                <a:ea typeface="Computer Says No"/>
                <a:cs typeface="Computer Says No"/>
                <a:sym typeface="Computer Says No"/>
              </a:rPr>
              <a:t>01</a:t>
            </a:r>
          </a:p>
        </p:txBody>
      </p:sp>
      <p:sp>
        <p:nvSpPr>
          <p:cNvPr name="TextBox 11" id="11"/>
          <p:cNvSpPr txBox="true"/>
          <p:nvPr/>
        </p:nvSpPr>
        <p:spPr>
          <a:xfrm rot="0">
            <a:off x="6057022" y="4861602"/>
            <a:ext cx="1019633" cy="1355408"/>
          </a:xfrm>
          <a:prstGeom prst="rect">
            <a:avLst/>
          </a:prstGeom>
        </p:spPr>
        <p:txBody>
          <a:bodyPr anchor="t" rtlCol="false" tIns="0" lIns="0" bIns="0" rIns="0">
            <a:spAutoFit/>
          </a:bodyPr>
          <a:lstStyle/>
          <a:p>
            <a:pPr algn="ctr" marL="0" indent="0" lvl="0">
              <a:lnSpc>
                <a:spcPts val="9146"/>
              </a:lnSpc>
              <a:spcBef>
                <a:spcPct val="0"/>
              </a:spcBef>
            </a:pPr>
            <a:r>
              <a:rPr lang="en-US" sz="12703">
                <a:solidFill>
                  <a:srgbClr val="6866E1"/>
                </a:solidFill>
                <a:latin typeface="Computer Says No"/>
                <a:ea typeface="Computer Says No"/>
                <a:cs typeface="Computer Says No"/>
                <a:sym typeface="Computer Says No"/>
              </a:rPr>
              <a:t>02</a:t>
            </a:r>
          </a:p>
        </p:txBody>
      </p:sp>
      <p:sp>
        <p:nvSpPr>
          <p:cNvPr name="TextBox 12" id="12"/>
          <p:cNvSpPr txBox="true"/>
          <p:nvPr/>
        </p:nvSpPr>
        <p:spPr>
          <a:xfrm rot="0">
            <a:off x="4122988" y="6665015"/>
            <a:ext cx="1019633" cy="1355408"/>
          </a:xfrm>
          <a:prstGeom prst="rect">
            <a:avLst/>
          </a:prstGeom>
        </p:spPr>
        <p:txBody>
          <a:bodyPr anchor="t" rtlCol="false" tIns="0" lIns="0" bIns="0" rIns="0">
            <a:spAutoFit/>
          </a:bodyPr>
          <a:lstStyle/>
          <a:p>
            <a:pPr algn="ctr" marL="0" indent="0" lvl="0">
              <a:lnSpc>
                <a:spcPts val="9146"/>
              </a:lnSpc>
              <a:spcBef>
                <a:spcPct val="0"/>
              </a:spcBef>
            </a:pPr>
            <a:r>
              <a:rPr lang="en-US" sz="12703">
                <a:solidFill>
                  <a:srgbClr val="6866E1"/>
                </a:solidFill>
                <a:latin typeface="Computer Says No"/>
                <a:ea typeface="Computer Says No"/>
                <a:cs typeface="Computer Says No"/>
                <a:sym typeface="Computer Says No"/>
              </a:rPr>
              <a:t>03</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9B60EB">
                <a:alpha val="100000"/>
              </a:srgbClr>
            </a:gs>
            <a:gs pos="50000">
              <a:srgbClr val="5527F5">
                <a:alpha val="100000"/>
              </a:srgbClr>
            </a:gs>
            <a:gs pos="100000">
              <a:srgbClr val="131FA8">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94186" y="406589"/>
            <a:ext cx="7937973" cy="9510914"/>
            <a:chOff x="0" y="0"/>
            <a:chExt cx="8585708" cy="10287000"/>
          </a:xfrm>
        </p:grpSpPr>
        <p:sp>
          <p:nvSpPr>
            <p:cNvPr name="Freeform 3" id="3"/>
            <p:cNvSpPr/>
            <p:nvPr/>
          </p:nvSpPr>
          <p:spPr>
            <a:xfrm flipH="false" flipV="false" rot="0">
              <a:off x="0" y="0"/>
              <a:ext cx="8585708" cy="10286999"/>
            </a:xfrm>
            <a:custGeom>
              <a:avLst/>
              <a:gdLst/>
              <a:ahLst/>
              <a:cxnLst/>
              <a:rect r="r" b="b" t="t" l="l"/>
              <a:pathLst>
                <a:path h="10286999" w="8585708">
                  <a:moveTo>
                    <a:pt x="8585708" y="762"/>
                  </a:moveTo>
                  <a:cubicBezTo>
                    <a:pt x="8581644" y="20447"/>
                    <a:pt x="8577961" y="40132"/>
                    <a:pt x="8573515" y="59690"/>
                  </a:cubicBezTo>
                  <a:cubicBezTo>
                    <a:pt x="8478138" y="485521"/>
                    <a:pt x="8382634" y="911225"/>
                    <a:pt x="8287258" y="1337056"/>
                  </a:cubicBezTo>
                  <a:cubicBezTo>
                    <a:pt x="8146288" y="1966722"/>
                    <a:pt x="8005699" y="2596388"/>
                    <a:pt x="7864602" y="3225927"/>
                  </a:cubicBezTo>
                  <a:cubicBezTo>
                    <a:pt x="7691247" y="3999103"/>
                    <a:pt x="7517384" y="4772152"/>
                    <a:pt x="7344029" y="5545328"/>
                  </a:cubicBezTo>
                  <a:cubicBezTo>
                    <a:pt x="7194677" y="6211443"/>
                    <a:pt x="7045579" y="6877558"/>
                    <a:pt x="6896354" y="7543800"/>
                  </a:cubicBezTo>
                  <a:cubicBezTo>
                    <a:pt x="6765290" y="8129016"/>
                    <a:pt x="6634480" y="8714105"/>
                    <a:pt x="6503162" y="9299194"/>
                  </a:cubicBezTo>
                  <a:cubicBezTo>
                    <a:pt x="6429375" y="9628250"/>
                    <a:pt x="6354953" y="9957181"/>
                    <a:pt x="6280785" y="10286237"/>
                  </a:cubicBezTo>
                  <a:cubicBezTo>
                    <a:pt x="4199382" y="10286237"/>
                    <a:pt x="2118106" y="10286110"/>
                    <a:pt x="36830" y="10286999"/>
                  </a:cubicBezTo>
                  <a:cubicBezTo>
                    <a:pt x="6731" y="10286999"/>
                    <a:pt x="0" y="10280268"/>
                    <a:pt x="0" y="10250043"/>
                  </a:cubicBezTo>
                  <a:cubicBezTo>
                    <a:pt x="762" y="6845681"/>
                    <a:pt x="762" y="3441319"/>
                    <a:pt x="0" y="36957"/>
                  </a:cubicBezTo>
                  <a:cubicBezTo>
                    <a:pt x="0" y="6731"/>
                    <a:pt x="6731" y="0"/>
                    <a:pt x="36830" y="0"/>
                  </a:cubicBezTo>
                  <a:cubicBezTo>
                    <a:pt x="2886456" y="762"/>
                    <a:pt x="5736082" y="762"/>
                    <a:pt x="8585708" y="762"/>
                  </a:cubicBezTo>
                  <a:close/>
                </a:path>
              </a:pathLst>
            </a:custGeom>
            <a:blipFill>
              <a:blip r:embed="rId2"/>
              <a:stretch>
                <a:fillRect l="-39749" t="0" r="-39749" b="0"/>
              </a:stretch>
            </a:blipFill>
          </p:spPr>
        </p:sp>
      </p:grpSp>
      <p:sp>
        <p:nvSpPr>
          <p:cNvPr name="TextBox 4" id="4"/>
          <p:cNvSpPr txBox="true"/>
          <p:nvPr/>
        </p:nvSpPr>
        <p:spPr>
          <a:xfrm rot="0">
            <a:off x="8222735" y="2386246"/>
            <a:ext cx="8652476" cy="1032113"/>
          </a:xfrm>
          <a:prstGeom prst="rect">
            <a:avLst/>
          </a:prstGeom>
        </p:spPr>
        <p:txBody>
          <a:bodyPr anchor="t" rtlCol="false" tIns="0" lIns="0" bIns="0" rIns="0">
            <a:spAutoFit/>
          </a:bodyPr>
          <a:lstStyle/>
          <a:p>
            <a:pPr algn="l" marL="0" indent="0" lvl="0">
              <a:lnSpc>
                <a:spcPts val="6934"/>
              </a:lnSpc>
              <a:spcBef>
                <a:spcPct val="0"/>
              </a:spcBef>
            </a:pPr>
            <a:r>
              <a:rPr lang="en-US" sz="9631">
                <a:solidFill>
                  <a:srgbClr val="6866E1"/>
                </a:solidFill>
                <a:latin typeface="Computer Says No"/>
                <a:ea typeface="Computer Says No"/>
                <a:cs typeface="Computer Says No"/>
                <a:sym typeface="Computer Says No"/>
              </a:rPr>
              <a:t>COMPETITIVE ADVANTAGE </a:t>
            </a:r>
          </a:p>
        </p:txBody>
      </p:sp>
      <p:sp>
        <p:nvSpPr>
          <p:cNvPr name="TextBox 5" id="5"/>
          <p:cNvSpPr txBox="true"/>
          <p:nvPr/>
        </p:nvSpPr>
        <p:spPr>
          <a:xfrm rot="0">
            <a:off x="8437211" y="3537844"/>
            <a:ext cx="8223524" cy="4665362"/>
          </a:xfrm>
          <a:prstGeom prst="rect">
            <a:avLst/>
          </a:prstGeom>
        </p:spPr>
        <p:txBody>
          <a:bodyPr anchor="t" rtlCol="false" tIns="0" lIns="0" bIns="0" rIns="0">
            <a:spAutoFit/>
          </a:bodyPr>
          <a:lstStyle/>
          <a:p>
            <a:pPr algn="l">
              <a:lnSpc>
                <a:spcPts val="3729"/>
              </a:lnSpc>
            </a:pPr>
            <a:r>
              <a:rPr lang="en-US" sz="2301">
                <a:solidFill>
                  <a:srgbClr val="FFFFFF"/>
                </a:solidFill>
                <a:latin typeface="Poppins Light"/>
                <a:ea typeface="Poppins Light"/>
                <a:cs typeface="Poppins Light"/>
                <a:sym typeface="Poppins Light"/>
              </a:rPr>
              <a:t>There is no similar software on the market. The system runs offline and eliminates per-page costs and data privacy risks. The multi-model architecture allows institutions to inspect how predictions are made and which models agree or disagree. The modular design allows swap of algorithms or add models. Active learning adapts to institution-specific handwriting patterns.</a:t>
            </a:r>
          </a:p>
          <a:p>
            <a:pPr algn="l">
              <a:lnSpc>
                <a:spcPts val="3729"/>
              </a:lnSpc>
            </a:pPr>
          </a:p>
          <a:p>
            <a:pPr algn="l">
              <a:lnSpc>
                <a:spcPts val="3729"/>
              </a:lnSpc>
            </a:pPr>
          </a:p>
        </p:txBody>
      </p:sp>
      <p:sp>
        <p:nvSpPr>
          <p:cNvPr name="Freeform 6" id="6"/>
          <p:cNvSpPr/>
          <p:nvPr/>
        </p:nvSpPr>
        <p:spPr>
          <a:xfrm flipH="false" flipV="false" rot="0">
            <a:off x="10571271" y="-3708211"/>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3"/>
            <a:stretch>
              <a:fillRect l="0" t="0" r="0" b="0"/>
            </a:stretch>
          </a:blipFill>
        </p:spPr>
      </p:sp>
      <p:sp>
        <p:nvSpPr>
          <p:cNvPr name="Freeform 7" id="7"/>
          <p:cNvSpPr/>
          <p:nvPr/>
        </p:nvSpPr>
        <p:spPr>
          <a:xfrm flipH="false" flipV="false" rot="0">
            <a:off x="10723671" y="-3555811"/>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3"/>
            <a:stretch>
              <a:fillRect l="0" t="0" r="0" b="0"/>
            </a:stretch>
          </a:blipFill>
        </p:spPr>
      </p:sp>
      <p:sp>
        <p:nvSpPr>
          <p:cNvPr name="Freeform 8" id="8"/>
          <p:cNvSpPr/>
          <p:nvPr/>
        </p:nvSpPr>
        <p:spPr>
          <a:xfrm flipH="false" flipV="false" rot="1825457">
            <a:off x="-1911821" y="9152427"/>
            <a:ext cx="9971383" cy="4202938"/>
          </a:xfrm>
          <a:custGeom>
            <a:avLst/>
            <a:gdLst/>
            <a:ahLst/>
            <a:cxnLst/>
            <a:rect r="r" b="b" t="t" l="l"/>
            <a:pathLst>
              <a:path h="4202938" w="9971383">
                <a:moveTo>
                  <a:pt x="0" y="0"/>
                </a:moveTo>
                <a:lnTo>
                  <a:pt x="9971384" y="0"/>
                </a:lnTo>
                <a:lnTo>
                  <a:pt x="9971384" y="4202938"/>
                </a:lnTo>
                <a:lnTo>
                  <a:pt x="0" y="4202938"/>
                </a:lnTo>
                <a:lnTo>
                  <a:pt x="0" y="0"/>
                </a:lnTo>
                <a:close/>
              </a:path>
            </a:pathLst>
          </a:custGeom>
          <a:blipFill>
            <a:blip r:embed="rId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44EEA">
                <a:alpha val="100000"/>
              </a:srgbClr>
            </a:gs>
            <a:gs pos="50000">
              <a:srgbClr val="5527F5">
                <a:alpha val="100000"/>
              </a:srgbClr>
            </a:gs>
            <a:gs pos="100000">
              <a:srgbClr val="041069">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5764344" y="5958420"/>
            <a:ext cx="0" cy="5145633"/>
          </a:xfrm>
          <a:prstGeom prst="line">
            <a:avLst/>
          </a:prstGeom>
          <a:ln cap="flat" w="38100">
            <a:solidFill>
              <a:srgbClr val="FFFFFF"/>
            </a:solidFill>
            <a:prstDash val="solid"/>
            <a:headEnd type="none" len="sm" w="sm"/>
            <a:tailEnd type="none" len="sm" w="sm"/>
          </a:ln>
        </p:spPr>
      </p:sp>
      <p:sp>
        <p:nvSpPr>
          <p:cNvPr name="AutoShape 3" id="3"/>
          <p:cNvSpPr/>
          <p:nvPr/>
        </p:nvSpPr>
        <p:spPr>
          <a:xfrm>
            <a:off x="5802444" y="-2572817"/>
            <a:ext cx="0" cy="5145633"/>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8377897" y="-5779144"/>
            <a:ext cx="14635371" cy="12033527"/>
          </a:xfrm>
          <a:custGeom>
            <a:avLst/>
            <a:gdLst/>
            <a:ahLst/>
            <a:cxnLst/>
            <a:rect r="r" b="b" t="t" l="l"/>
            <a:pathLst>
              <a:path h="12033527" w="14635371">
                <a:moveTo>
                  <a:pt x="0" y="0"/>
                </a:moveTo>
                <a:lnTo>
                  <a:pt x="14635371" y="0"/>
                </a:lnTo>
                <a:lnTo>
                  <a:pt x="14635371" y="12033528"/>
                </a:lnTo>
                <a:lnTo>
                  <a:pt x="0" y="12033528"/>
                </a:lnTo>
                <a:lnTo>
                  <a:pt x="0" y="0"/>
                </a:lnTo>
                <a:close/>
              </a:path>
            </a:pathLst>
          </a:custGeom>
          <a:blipFill>
            <a:blip r:embed="rId2"/>
            <a:stretch>
              <a:fillRect l="0" t="0" r="0" b="0"/>
            </a:stretch>
          </a:blipFill>
        </p:spPr>
      </p:sp>
      <p:sp>
        <p:nvSpPr>
          <p:cNvPr name="Freeform 5" id="5"/>
          <p:cNvSpPr/>
          <p:nvPr/>
        </p:nvSpPr>
        <p:spPr>
          <a:xfrm flipH="false" flipV="false" rot="0">
            <a:off x="-1995996" y="5507733"/>
            <a:ext cx="10008973" cy="8229600"/>
          </a:xfrm>
          <a:custGeom>
            <a:avLst/>
            <a:gdLst/>
            <a:ahLst/>
            <a:cxnLst/>
            <a:rect r="r" b="b" t="t" l="l"/>
            <a:pathLst>
              <a:path h="8229600" w="10008973">
                <a:moveTo>
                  <a:pt x="0" y="0"/>
                </a:moveTo>
                <a:lnTo>
                  <a:pt x="10008973" y="0"/>
                </a:lnTo>
                <a:lnTo>
                  <a:pt x="10008973" y="8229600"/>
                </a:lnTo>
                <a:lnTo>
                  <a:pt x="0" y="8229600"/>
                </a:lnTo>
                <a:lnTo>
                  <a:pt x="0" y="0"/>
                </a:lnTo>
                <a:close/>
              </a:path>
            </a:pathLst>
          </a:custGeom>
          <a:blipFill>
            <a:blip r:embed="rId2"/>
            <a:stretch>
              <a:fillRect l="0" t="0" r="0" b="0"/>
            </a:stretch>
          </a:blipFill>
        </p:spPr>
      </p:sp>
      <p:sp>
        <p:nvSpPr>
          <p:cNvPr name="TextBox 6" id="6"/>
          <p:cNvSpPr txBox="true"/>
          <p:nvPr/>
        </p:nvSpPr>
        <p:spPr>
          <a:xfrm rot="0">
            <a:off x="1619702" y="2582224"/>
            <a:ext cx="7747874" cy="3236382"/>
          </a:xfrm>
          <a:prstGeom prst="rect">
            <a:avLst/>
          </a:prstGeom>
        </p:spPr>
        <p:txBody>
          <a:bodyPr anchor="t" rtlCol="false" tIns="0" lIns="0" bIns="0" rIns="0">
            <a:spAutoFit/>
          </a:bodyPr>
          <a:lstStyle/>
          <a:p>
            <a:pPr algn="ctr" marL="0" indent="0" lvl="0">
              <a:lnSpc>
                <a:spcPts val="26366"/>
              </a:lnSpc>
            </a:pPr>
            <a:r>
              <a:rPr lang="en-US" sz="18833">
                <a:solidFill>
                  <a:srgbClr val="6866E1"/>
                </a:solidFill>
                <a:latin typeface="Computer Says No"/>
                <a:ea typeface="Computer Says No"/>
                <a:cs typeface="Computer Says No"/>
                <a:sym typeface="Computer Says No"/>
              </a:rPr>
              <a:t>THANK YOU!</a:t>
            </a:r>
          </a:p>
        </p:txBody>
      </p:sp>
      <p:sp>
        <p:nvSpPr>
          <p:cNvPr name="Freeform 7" id="7"/>
          <p:cNvSpPr/>
          <p:nvPr/>
        </p:nvSpPr>
        <p:spPr>
          <a:xfrm flipH="false" flipV="false" rot="0">
            <a:off x="-1995996" y="7317810"/>
            <a:ext cx="6049393" cy="5290528"/>
          </a:xfrm>
          <a:custGeom>
            <a:avLst/>
            <a:gdLst/>
            <a:ahLst/>
            <a:cxnLst/>
            <a:rect r="r" b="b" t="t" l="l"/>
            <a:pathLst>
              <a:path h="5290528" w="6049393">
                <a:moveTo>
                  <a:pt x="0" y="0"/>
                </a:moveTo>
                <a:lnTo>
                  <a:pt x="6049392" y="0"/>
                </a:lnTo>
                <a:lnTo>
                  <a:pt x="6049392" y="5290527"/>
                </a:lnTo>
                <a:lnTo>
                  <a:pt x="0" y="5290527"/>
                </a:lnTo>
                <a:lnTo>
                  <a:pt x="0" y="0"/>
                </a:lnTo>
                <a:close/>
              </a:path>
            </a:pathLst>
          </a:custGeom>
          <a:blipFill>
            <a:blip r:embed="rId3"/>
            <a:stretch>
              <a:fillRect l="0" t="0" r="0" b="0"/>
            </a:stretch>
          </a:blipFill>
        </p:spPr>
      </p:sp>
      <p:sp>
        <p:nvSpPr>
          <p:cNvPr name="Freeform 8" id="8"/>
          <p:cNvSpPr/>
          <p:nvPr/>
        </p:nvSpPr>
        <p:spPr>
          <a:xfrm flipH="false" flipV="false" rot="0">
            <a:off x="14771515" y="-3149182"/>
            <a:ext cx="6049393" cy="5290528"/>
          </a:xfrm>
          <a:custGeom>
            <a:avLst/>
            <a:gdLst/>
            <a:ahLst/>
            <a:cxnLst/>
            <a:rect r="r" b="b" t="t" l="l"/>
            <a:pathLst>
              <a:path h="5290528" w="6049393">
                <a:moveTo>
                  <a:pt x="0" y="0"/>
                </a:moveTo>
                <a:lnTo>
                  <a:pt x="6049392" y="0"/>
                </a:lnTo>
                <a:lnTo>
                  <a:pt x="6049392" y="5290527"/>
                </a:lnTo>
                <a:lnTo>
                  <a:pt x="0" y="5290527"/>
                </a:lnTo>
                <a:lnTo>
                  <a:pt x="0" y="0"/>
                </a:lnTo>
                <a:close/>
              </a:path>
            </a:pathLst>
          </a:custGeom>
          <a:blipFill>
            <a:blip r:embed="rId3"/>
            <a:stretch>
              <a:fillRect l="0" t="0" r="0" b="0"/>
            </a:stretch>
          </a:blipFill>
        </p:spPr>
      </p:sp>
      <p:sp>
        <p:nvSpPr>
          <p:cNvPr name="Freeform 9" id="9"/>
          <p:cNvSpPr/>
          <p:nvPr/>
        </p:nvSpPr>
        <p:spPr>
          <a:xfrm flipH="false" flipV="false" rot="-706557">
            <a:off x="13859100" y="1432047"/>
            <a:ext cx="4433872" cy="4665492"/>
          </a:xfrm>
          <a:custGeom>
            <a:avLst/>
            <a:gdLst/>
            <a:ahLst/>
            <a:cxnLst/>
            <a:rect r="r" b="b" t="t" l="l"/>
            <a:pathLst>
              <a:path h="4665492" w="4433872">
                <a:moveTo>
                  <a:pt x="0" y="0"/>
                </a:moveTo>
                <a:lnTo>
                  <a:pt x="4433873" y="0"/>
                </a:lnTo>
                <a:lnTo>
                  <a:pt x="4433873" y="4665493"/>
                </a:lnTo>
                <a:lnTo>
                  <a:pt x="0" y="4665493"/>
                </a:lnTo>
                <a:lnTo>
                  <a:pt x="0" y="0"/>
                </a:lnTo>
                <a:close/>
              </a:path>
            </a:pathLst>
          </a:custGeom>
          <a:blipFill>
            <a:blip r:embed="rId4"/>
            <a:stretch>
              <a:fillRect l="0" t="0" r="0" b="0"/>
            </a:stretch>
          </a:blipFill>
        </p:spPr>
      </p:sp>
      <p:sp>
        <p:nvSpPr>
          <p:cNvPr name="Freeform 10" id="10"/>
          <p:cNvSpPr/>
          <p:nvPr/>
        </p:nvSpPr>
        <p:spPr>
          <a:xfrm flipH="false" flipV="false" rot="0">
            <a:off x="8377897" y="2433562"/>
            <a:ext cx="8117004" cy="7049716"/>
          </a:xfrm>
          <a:custGeom>
            <a:avLst/>
            <a:gdLst/>
            <a:ahLst/>
            <a:cxnLst/>
            <a:rect r="r" b="b" t="t" l="l"/>
            <a:pathLst>
              <a:path h="7049716" w="8117004">
                <a:moveTo>
                  <a:pt x="0" y="0"/>
                </a:moveTo>
                <a:lnTo>
                  <a:pt x="8117004" y="0"/>
                </a:lnTo>
                <a:lnTo>
                  <a:pt x="8117004" y="7049716"/>
                </a:lnTo>
                <a:lnTo>
                  <a:pt x="0" y="7049716"/>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DAHBgZI0nQg</dc:identifier>
  <dcterms:modified xsi:type="dcterms:W3CDTF">2011-08-01T06:04:30Z</dcterms:modified>
  <cp:revision>1</cp:revision>
  <dc:title>Blue Futuristic Illustrative Artificial Intelligence Project Presentation</dc:title>
</cp:coreProperties>
</file>