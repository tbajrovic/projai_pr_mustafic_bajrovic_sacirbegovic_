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2C8xicSRUlhAtVwpb6SRtdqaT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256032" y="0"/>
            <a:ext cx="11935663" cy="384048"/>
          </a:xfrm>
          <a:prstGeom prst="rect">
            <a:avLst/>
          </a:prstGeom>
          <a:solidFill>
            <a:srgbClr val="24C8DB">
              <a:alpha val="90196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384048"/>
            <a:ext cx="256032" cy="6473952"/>
          </a:xfrm>
          <a:prstGeom prst="rect">
            <a:avLst/>
          </a:prstGeom>
          <a:solidFill>
            <a:srgbClr val="24C8DB">
              <a:alpha val="92157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256032" y="384048"/>
            <a:ext cx="11935663" cy="32004"/>
          </a:xfrm>
          <a:prstGeom prst="rect">
            <a:avLst/>
          </a:prstGeom>
          <a:solidFill>
            <a:srgbClr val="24C8DB">
              <a:alpha val="65098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60120" y="187452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4000"/>
              <a:buFont typeface="Play"/>
              <a:buNone/>
            </a:pPr>
            <a:r>
              <a:rPr b="1" i="0" lang="en-US" sz="4000" u="none" cap="none" strike="noStrike">
                <a:solidFill>
                  <a:srgbClr val="F4FBFF"/>
                </a:solidFill>
                <a:latin typeface="Play"/>
                <a:ea typeface="Play"/>
                <a:cs typeface="Play"/>
                <a:sym typeface="Play"/>
              </a:rPr>
              <a:t>PATTERNSCOPE AI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7552" y="2633472"/>
            <a:ext cx="9692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From Handwritten Academic Work to Digital Knowledge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87552" y="3136392"/>
            <a:ext cx="2926080" cy="32004"/>
          </a:xfrm>
          <a:prstGeom prst="rect">
            <a:avLst/>
          </a:prstGeom>
          <a:solidFill>
            <a:srgbClr val="24C8DB"/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987552" y="3685032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FE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B8CFE4"/>
                </a:solidFill>
                <a:latin typeface="Arial"/>
                <a:ea typeface="Arial"/>
                <a:cs typeface="Arial"/>
                <a:sym typeface="Arial"/>
              </a:rPr>
              <a:t>By: Almir Mustafić, Tarik Bajrović, Rijalda Šaćirbegović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87552" y="40416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Project presentation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85800" y="647395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FE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8CFE4"/>
                </a:solidFill>
                <a:latin typeface="Arial"/>
                <a:ea typeface="Arial"/>
                <a:cs typeface="Arial"/>
                <a:sym typeface="Arial"/>
              </a:rPr>
              <a:t>PatternScope AI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1210544" y="641908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2E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256032" y="0"/>
            <a:ext cx="11935663" cy="384048"/>
          </a:xfrm>
          <a:prstGeom prst="rect">
            <a:avLst/>
          </a:prstGeom>
          <a:solidFill>
            <a:srgbClr val="24C8DB">
              <a:alpha val="90196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384048"/>
            <a:ext cx="256032" cy="6473952"/>
          </a:xfrm>
          <a:prstGeom prst="rect">
            <a:avLst/>
          </a:prstGeom>
          <a:solidFill>
            <a:srgbClr val="24C8DB">
              <a:alpha val="92157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256032" y="384048"/>
            <a:ext cx="11935663" cy="32004"/>
          </a:xfrm>
          <a:prstGeom prst="rect">
            <a:avLst/>
          </a:prstGeom>
          <a:solidFill>
            <a:srgbClr val="24C8DB">
              <a:alpha val="65098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85800" y="6400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4FBFF"/>
                </a:solidFill>
                <a:latin typeface="Play"/>
                <a:ea typeface="Play"/>
                <a:cs typeface="Play"/>
                <a:sym typeface="Play"/>
              </a:rPr>
              <a:t>TABLE OF CONTENTS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85800" y="647395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FE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8CFE4"/>
                </a:solidFill>
                <a:latin typeface="Arial"/>
                <a:ea typeface="Arial"/>
                <a:cs typeface="Arial"/>
                <a:sym typeface="Arial"/>
              </a:rPr>
              <a:t>PatternScope AI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1210544" y="641908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914400" y="1755648"/>
            <a:ext cx="4983480" cy="658368"/>
          </a:xfrm>
          <a:prstGeom prst="roundRect">
            <a:avLst>
              <a:gd fmla="val 13889" name="adj"/>
            </a:avLst>
          </a:prstGeom>
          <a:solidFill>
            <a:srgbClr val="0E3158"/>
          </a:solidFill>
          <a:ln cap="flat" cmpd="sng" w="10150">
            <a:solidFill>
              <a:srgbClr val="24C8DB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143000" y="1938528"/>
            <a:ext cx="475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783080" y="192938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About the Project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14400" y="2651760"/>
            <a:ext cx="4983480" cy="658368"/>
          </a:xfrm>
          <a:prstGeom prst="roundRect">
            <a:avLst>
              <a:gd fmla="val 13889" name="adj"/>
            </a:avLst>
          </a:prstGeom>
          <a:solidFill>
            <a:srgbClr val="0E3158"/>
          </a:solidFill>
          <a:ln cap="flat" cmpd="sng" w="10150">
            <a:solidFill>
              <a:srgbClr val="24C8DB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143000" y="2834640"/>
            <a:ext cx="475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783080" y="2825496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Problem &amp; Market Gap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14400" y="3547872"/>
            <a:ext cx="4983480" cy="658368"/>
          </a:xfrm>
          <a:prstGeom prst="roundRect">
            <a:avLst>
              <a:gd fmla="val 13889" name="adj"/>
            </a:avLst>
          </a:prstGeom>
          <a:solidFill>
            <a:srgbClr val="0E3158"/>
          </a:solidFill>
          <a:ln cap="flat" cmpd="sng" w="10150">
            <a:solidFill>
              <a:srgbClr val="24C8DB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143000" y="3730752"/>
            <a:ext cx="475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783080" y="3721608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Technology, Datasets &amp; Models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309360" y="1755648"/>
            <a:ext cx="4983480" cy="658368"/>
          </a:xfrm>
          <a:prstGeom prst="roundRect">
            <a:avLst>
              <a:gd fmla="val 13889" name="adj"/>
            </a:avLst>
          </a:prstGeom>
          <a:solidFill>
            <a:srgbClr val="0E3158"/>
          </a:solidFill>
          <a:ln cap="flat" cmpd="sng" w="10150">
            <a:solidFill>
              <a:srgbClr val="24C8DB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537960" y="1938528"/>
            <a:ext cx="475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178040" y="1929384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Target Users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309360" y="2651760"/>
            <a:ext cx="4983480" cy="658368"/>
          </a:xfrm>
          <a:prstGeom prst="roundRect">
            <a:avLst>
              <a:gd fmla="val 13889" name="adj"/>
            </a:avLst>
          </a:prstGeom>
          <a:solidFill>
            <a:srgbClr val="0E3158"/>
          </a:solidFill>
          <a:ln cap="flat" cmpd="sng" w="10150">
            <a:solidFill>
              <a:srgbClr val="24C8DB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537960" y="2834640"/>
            <a:ext cx="475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178040" y="2825496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Competitive Advantage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309360" y="3547872"/>
            <a:ext cx="4983480" cy="658368"/>
          </a:xfrm>
          <a:prstGeom prst="roundRect">
            <a:avLst>
              <a:gd fmla="val 13889" name="adj"/>
            </a:avLst>
          </a:prstGeom>
          <a:solidFill>
            <a:srgbClr val="0E3158"/>
          </a:solidFill>
          <a:ln cap="flat" cmpd="sng" w="10150">
            <a:solidFill>
              <a:srgbClr val="24C8DB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537960" y="3730752"/>
            <a:ext cx="475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178040" y="3721608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Roadmap &amp; Grant Vision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2E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256032" y="0"/>
            <a:ext cx="11935663" cy="384048"/>
          </a:xfrm>
          <a:prstGeom prst="rect">
            <a:avLst/>
          </a:prstGeom>
          <a:solidFill>
            <a:srgbClr val="24C8DB">
              <a:alpha val="90196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0" y="384048"/>
            <a:ext cx="256032" cy="6473952"/>
          </a:xfrm>
          <a:prstGeom prst="rect">
            <a:avLst/>
          </a:prstGeom>
          <a:solidFill>
            <a:srgbClr val="24C8DB">
              <a:alpha val="92157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256032" y="384048"/>
            <a:ext cx="11935663" cy="32004"/>
          </a:xfrm>
          <a:prstGeom prst="rect">
            <a:avLst/>
          </a:prstGeom>
          <a:solidFill>
            <a:srgbClr val="24C8DB">
              <a:alpha val="65098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85800" y="6400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4FBFF"/>
                </a:solidFill>
                <a:latin typeface="Play"/>
                <a:ea typeface="Play"/>
                <a:cs typeface="Play"/>
                <a:sym typeface="Play"/>
              </a:rPr>
              <a:t>ABOUT THE PROJECT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13232" y="120700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What PatternScope AI does now and what it enables next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85800" y="647395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FE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8CFE4"/>
                </a:solidFill>
                <a:latin typeface="Arial"/>
                <a:ea typeface="Arial"/>
                <a:cs typeface="Arial"/>
                <a:sym typeface="Arial"/>
              </a:rPr>
              <a:t>PatternScope AI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1210544" y="641908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13232" y="1481328"/>
            <a:ext cx="2057400" cy="310896"/>
          </a:xfrm>
          <a:prstGeom prst="roundRect">
            <a:avLst>
              <a:gd fmla="val 23529" name="adj"/>
            </a:avLst>
          </a:prstGeom>
          <a:solidFill>
            <a:srgbClr val="123D6B"/>
          </a:solidFill>
          <a:ln cap="flat" cmpd="sng" w="9525">
            <a:solidFill>
              <a:srgbClr val="24C8D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68680" y="1545336"/>
            <a:ext cx="1737360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839"/>
              <a:buFont typeface="Arial"/>
              <a:buNone/>
            </a:pPr>
            <a:r>
              <a:rPr b="1" i="0" lang="en-US" sz="84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PROJECT SCOPE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68680" y="1938528"/>
            <a:ext cx="5074920" cy="1874520"/>
          </a:xfrm>
          <a:prstGeom prst="roundRect">
            <a:avLst>
              <a:gd fmla="val 5854" name="adj"/>
            </a:avLst>
          </a:prstGeom>
          <a:solidFill>
            <a:srgbClr val="0E3158"/>
          </a:solidFill>
          <a:ln cap="flat" cmpd="sng" w="13950">
            <a:solidFill>
              <a:srgbClr val="24C8D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1033272" y="2093976"/>
            <a:ext cx="47457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430"/>
              <a:buFont typeface="Arial"/>
              <a:buNone/>
            </a:pPr>
            <a:r>
              <a:rPr b="1" i="0" lang="en-US" sz="143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Current application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33272" y="2542032"/>
            <a:ext cx="4745736" cy="1161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260"/>
              <a:buFont typeface="Arial"/>
              <a:buNone/>
            </a:pPr>
            <a:r>
              <a:rPr b="0" i="0" lang="en-US" sz="126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Recognizes handwritten digits, geometric shapes and custom symbols using multiple AI models.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263640" y="1938528"/>
            <a:ext cx="5074920" cy="1874520"/>
          </a:xfrm>
          <a:prstGeom prst="roundRect">
            <a:avLst>
              <a:gd fmla="val 5854" name="adj"/>
            </a:avLst>
          </a:prstGeom>
          <a:solidFill>
            <a:srgbClr val="0E3158"/>
          </a:solidFill>
          <a:ln cap="flat" cmpd="sng" w="13950">
            <a:solidFill>
              <a:srgbClr val="24C8D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428232" y="2093976"/>
            <a:ext cx="47457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430"/>
              <a:buFont typeface="Arial"/>
              <a:buNone/>
            </a:pPr>
            <a:r>
              <a:rPr b="1" i="0" lang="en-US" sz="143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Purpose of the system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28232" y="2542032"/>
            <a:ext cx="4745736" cy="1161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260"/>
              <a:buFont typeface="Arial"/>
              <a:buNone/>
            </a:pPr>
            <a:r>
              <a:rPr b="0" i="0" lang="en-US" sz="126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PatternScope AI serves as a first step toward converting handwritten academic notes, formulas, diagrams and other materials into editable digital content.</a:t>
            </a:r>
            <a:endParaRPr b="0" i="0" sz="12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874520" y="4160520"/>
            <a:ext cx="8458200" cy="1170432"/>
          </a:xfrm>
          <a:prstGeom prst="roundRect">
            <a:avLst>
              <a:gd fmla="val 9375" name="adj"/>
            </a:avLst>
          </a:prstGeom>
          <a:solidFill>
            <a:srgbClr val="0A2B4E"/>
          </a:solidFill>
          <a:ln cap="flat" cmpd="sng" w="13950">
            <a:solidFill>
              <a:srgbClr val="24C8D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2039112" y="4315968"/>
            <a:ext cx="8129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Core idea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039112" y="4764024"/>
            <a:ext cx="8129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330"/>
              <a:buFont typeface="Arial"/>
              <a:buNone/>
            </a:pPr>
            <a:r>
              <a:rPr b="0" i="0" lang="en-US" sz="133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The system identifies visual patterns in handwritten academic work and prepares the foundation for future text, equation and diagram recognition.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2E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256032" y="0"/>
            <a:ext cx="11935663" cy="384048"/>
          </a:xfrm>
          <a:prstGeom prst="rect">
            <a:avLst/>
          </a:prstGeom>
          <a:solidFill>
            <a:srgbClr val="24C8DB">
              <a:alpha val="90196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0" y="384048"/>
            <a:ext cx="256032" cy="6473952"/>
          </a:xfrm>
          <a:prstGeom prst="rect">
            <a:avLst/>
          </a:prstGeom>
          <a:solidFill>
            <a:srgbClr val="24C8DB">
              <a:alpha val="92157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256032" y="384048"/>
            <a:ext cx="11935663" cy="32004"/>
          </a:xfrm>
          <a:prstGeom prst="rect">
            <a:avLst/>
          </a:prstGeom>
          <a:solidFill>
            <a:srgbClr val="24C8DB">
              <a:alpha val="65098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685800" y="6400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4FBFF"/>
                </a:solidFill>
                <a:latin typeface="Play"/>
                <a:ea typeface="Play"/>
                <a:cs typeface="Play"/>
                <a:sym typeface="Play"/>
              </a:rPr>
              <a:t>PROBLEM &amp; MARKET GAP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13232" y="120700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Why handwritten academic material still needs a better digital path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85800" y="647395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FE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8CFE4"/>
                </a:solidFill>
                <a:latin typeface="Arial"/>
                <a:ea typeface="Arial"/>
                <a:cs typeface="Arial"/>
                <a:sym typeface="Arial"/>
              </a:rPr>
              <a:t>PatternScope AI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1210544" y="641908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13232" y="1572768"/>
            <a:ext cx="2697480" cy="1536192"/>
          </a:xfrm>
          <a:prstGeom prst="roundRect">
            <a:avLst>
              <a:gd fmla="val 5952" name="adj"/>
            </a:avLst>
          </a:prstGeom>
          <a:solidFill>
            <a:srgbClr val="0E3158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850392" y="170078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50392" y="2048256"/>
            <a:ext cx="24231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Manual digitization is slow.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Students and professors lose time converting notes and materials.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639312" y="1572768"/>
            <a:ext cx="2697480" cy="1536192"/>
          </a:xfrm>
          <a:prstGeom prst="roundRect">
            <a:avLst>
              <a:gd fmla="val 5952" name="adj"/>
            </a:avLst>
          </a:prstGeom>
          <a:solidFill>
            <a:srgbClr val="0E3158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776472" y="170078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776472" y="2048256"/>
            <a:ext cx="24231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Academic work contains formulas, diagrams, shapes and technical notation.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Standard tools often struggle with this mix.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565392" y="1572768"/>
            <a:ext cx="2697480" cy="1536192"/>
          </a:xfrm>
          <a:prstGeom prst="roundRect">
            <a:avLst>
              <a:gd fmla="val 5952" name="adj"/>
            </a:avLst>
          </a:prstGeom>
          <a:solidFill>
            <a:srgbClr val="0E3158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702552" y="170078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PAPER WASTE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702552" y="2048256"/>
            <a:ext cx="242316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Exam materials, lab reports and notes often remain paper-based.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This creates repeated printing and storage problems.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491472" y="1572768"/>
            <a:ext cx="2331720" cy="1536192"/>
          </a:xfrm>
          <a:prstGeom prst="roundRect">
            <a:avLst>
              <a:gd fmla="val 5952" name="adj"/>
            </a:avLst>
          </a:prstGeom>
          <a:solidFill>
            <a:srgbClr val="0E3158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9628632" y="1700784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KNOWLEDGE LOSS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9628632" y="2048256"/>
            <a:ext cx="2057400" cy="95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Many notes are not reused by new generations of students.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Useful academic work disappears after one course cycle.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143000" y="3730752"/>
            <a:ext cx="9921240" cy="1234440"/>
          </a:xfrm>
          <a:prstGeom prst="roundRect">
            <a:avLst>
              <a:gd fmla="val 8889" name="adj"/>
            </a:avLst>
          </a:prstGeom>
          <a:solidFill>
            <a:srgbClr val="0A2B4E"/>
          </a:solidFill>
          <a:ln cap="flat" cmpd="sng" w="13950">
            <a:solidFill>
              <a:srgbClr val="24C8D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307592" y="3886200"/>
            <a:ext cx="95920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430"/>
              <a:buFont typeface="Arial"/>
              <a:buNone/>
            </a:pPr>
            <a:r>
              <a:rPr b="1" i="0" lang="en-US" sz="143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Market gap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307592" y="4334256"/>
            <a:ext cx="9592056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330"/>
              <a:buFont typeface="Arial"/>
              <a:buNone/>
            </a:pPr>
            <a:r>
              <a:rPr b="0" i="0" lang="en-US" sz="133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Existing tools solve parts of the problem, but accessible and device-independent academic digitization remains limited for students and institutions in Bosnia and Herzegovina.</a:t>
            </a:r>
            <a:endParaRPr b="0" i="0" sz="13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2E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/>
          <p:nvPr/>
        </p:nvSpPr>
        <p:spPr>
          <a:xfrm>
            <a:off x="256032" y="0"/>
            <a:ext cx="11935663" cy="384048"/>
          </a:xfrm>
          <a:prstGeom prst="rect">
            <a:avLst/>
          </a:prstGeom>
          <a:solidFill>
            <a:srgbClr val="24C8DB">
              <a:alpha val="90196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0" y="384048"/>
            <a:ext cx="256032" cy="6473952"/>
          </a:xfrm>
          <a:prstGeom prst="rect">
            <a:avLst/>
          </a:prstGeom>
          <a:solidFill>
            <a:srgbClr val="24C8DB">
              <a:alpha val="92157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256032" y="384048"/>
            <a:ext cx="11935663" cy="32004"/>
          </a:xfrm>
          <a:prstGeom prst="rect">
            <a:avLst/>
          </a:prstGeom>
          <a:solidFill>
            <a:srgbClr val="24C8DB">
              <a:alpha val="65098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85800" y="6400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4FBFF"/>
                </a:solidFill>
                <a:latin typeface="Play"/>
                <a:ea typeface="Play"/>
                <a:cs typeface="Play"/>
                <a:sym typeface="Play"/>
              </a:rPr>
              <a:t>TECHNOLOGY, DATASETS &amp; MODELS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13232" y="120700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The technical foundation behind the current system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85800" y="647395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FE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8CFE4"/>
                </a:solidFill>
                <a:latin typeface="Arial"/>
                <a:ea typeface="Arial"/>
                <a:cs typeface="Arial"/>
                <a:sym typeface="Arial"/>
              </a:rPr>
              <a:t>PatternScope AI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1210544" y="641908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822960" y="1691640"/>
            <a:ext cx="3383280" cy="3246120"/>
          </a:xfrm>
          <a:prstGeom prst="roundRect">
            <a:avLst>
              <a:gd fmla="val 2817" name="adj"/>
            </a:avLst>
          </a:prstGeom>
          <a:solidFill>
            <a:srgbClr val="0A2B4E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960120" y="181965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960120" y="2167128"/>
            <a:ext cx="3108960" cy="2660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C++14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CMake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stb_image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natID GUI Framework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407408" y="1691640"/>
            <a:ext cx="3383280" cy="3246120"/>
          </a:xfrm>
          <a:prstGeom prst="roundRect">
            <a:avLst>
              <a:gd fmla="val 2817" name="adj"/>
            </a:avLst>
          </a:prstGeom>
          <a:solidFill>
            <a:srgbClr val="0A2B4E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544568" y="181965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544568" y="2167128"/>
            <a:ext cx="3108960" cy="2660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4FBFF"/>
                </a:solidFill>
              </a:rPr>
              <a:t>MNIST: handwritten digits</a:t>
            </a:r>
            <a:endParaRPr sz="1200">
              <a:solidFill>
                <a:srgbClr val="F4FB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4FBFF"/>
                </a:solidFill>
              </a:rPr>
              <a:t>Quick Draw: geometric shapes</a:t>
            </a:r>
            <a:endParaRPr sz="1200">
              <a:solidFill>
                <a:srgbClr val="F4FB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4FBFF"/>
                </a:solidFill>
              </a:rPr>
              <a:t>Quick Draw: custom symbols</a:t>
            </a:r>
            <a:endParaRPr sz="1200">
              <a:solidFill>
                <a:srgbClr val="F4FBFF"/>
              </a:solidFill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991856" y="1691640"/>
            <a:ext cx="3383280" cy="3246120"/>
          </a:xfrm>
          <a:prstGeom prst="roundRect">
            <a:avLst>
              <a:gd fmla="val 2817" name="adj"/>
            </a:avLst>
          </a:prstGeom>
          <a:solidFill>
            <a:srgbClr val="0A2B4E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8129016" y="181965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ALGORITHMS &amp; MODELS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129016" y="2167128"/>
            <a:ext cx="3108960" cy="2660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K-Nearest Neighbors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Naive Bayes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Mini-MLP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A* Search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Rule-Based Fallback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Ensemble prediction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2E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256032" y="0"/>
            <a:ext cx="11935663" cy="384048"/>
          </a:xfrm>
          <a:prstGeom prst="rect">
            <a:avLst/>
          </a:prstGeom>
          <a:solidFill>
            <a:srgbClr val="24C8DB">
              <a:alpha val="90196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0" y="384048"/>
            <a:ext cx="256032" cy="6473952"/>
          </a:xfrm>
          <a:prstGeom prst="rect">
            <a:avLst/>
          </a:prstGeom>
          <a:solidFill>
            <a:srgbClr val="24C8DB">
              <a:alpha val="92157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256032" y="384048"/>
            <a:ext cx="11935663" cy="32004"/>
          </a:xfrm>
          <a:prstGeom prst="rect">
            <a:avLst/>
          </a:prstGeom>
          <a:solidFill>
            <a:srgbClr val="24C8DB">
              <a:alpha val="65098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685800" y="6400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4FBFF"/>
                </a:solidFill>
                <a:latin typeface="Play"/>
                <a:ea typeface="Play"/>
                <a:cs typeface="Play"/>
                <a:sym typeface="Play"/>
              </a:rPr>
              <a:t>TARGET USERS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13232" y="120700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Academic users who benefit from reusable digital content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85800" y="647395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FE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8CFE4"/>
                </a:solidFill>
                <a:latin typeface="Arial"/>
                <a:ea typeface="Arial"/>
                <a:cs typeface="Arial"/>
                <a:sym typeface="Arial"/>
              </a:rPr>
              <a:t>PatternScope AI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1210544" y="641908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77240" y="1737360"/>
            <a:ext cx="2651760" cy="3273552"/>
          </a:xfrm>
          <a:prstGeom prst="roundRect">
            <a:avLst>
              <a:gd fmla="val 3448" name="adj"/>
            </a:avLst>
          </a:prstGeom>
          <a:solidFill>
            <a:srgbClr val="0A2B4E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914400" y="1865376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STUDENTS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914400" y="2212848"/>
            <a:ext cx="2377440" cy="2688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Digitize notes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Convert equations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Reuse study materials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Access the platform for free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685032" y="1737360"/>
            <a:ext cx="2651760" cy="3273552"/>
          </a:xfrm>
          <a:prstGeom prst="roundRect">
            <a:avLst>
              <a:gd fmla="val 3448" name="adj"/>
            </a:avLst>
          </a:prstGeom>
          <a:solidFill>
            <a:srgbClr val="0E3158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3822192" y="1865376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160"/>
              <a:buFont typeface="Arial"/>
              <a:buNone/>
            </a:pPr>
            <a:r>
              <a:rPr b="1" i="0" lang="en-US" sz="116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TEACHING ASSISTANTS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822192" y="2212848"/>
            <a:ext cx="2377440" cy="2688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Reuse exercises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Prepare diagrams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Support lab work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Build teaching resources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592824" y="1737360"/>
            <a:ext cx="2651760" cy="3273552"/>
          </a:xfrm>
          <a:prstGeom prst="roundRect">
            <a:avLst>
              <a:gd fmla="val 3448" name="adj"/>
            </a:avLst>
          </a:prstGeom>
          <a:solidFill>
            <a:srgbClr val="0E3158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729984" y="1865376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PROFESSORS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729984" y="2212848"/>
            <a:ext cx="2377440" cy="2688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Convert handwritten course materials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Preserve examples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Prepare digital resources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Reuse knowledge across semesters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9500616" y="1737360"/>
            <a:ext cx="2651760" cy="3273552"/>
          </a:xfrm>
          <a:prstGeom prst="roundRect">
            <a:avLst>
              <a:gd fmla="val 3448" name="adj"/>
            </a:avLst>
          </a:prstGeom>
          <a:solidFill>
            <a:srgbClr val="0A2B4E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9637776" y="1865376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UNIVERSITIES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9637776" y="2212848"/>
            <a:ext cx="2377440" cy="2688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Host the platform locally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Protect academic data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Reduce paper waste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Preserve institutional knowledge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2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256032" y="0"/>
            <a:ext cx="11935663" cy="384048"/>
          </a:xfrm>
          <a:prstGeom prst="rect">
            <a:avLst/>
          </a:prstGeom>
          <a:solidFill>
            <a:srgbClr val="24C8DB">
              <a:alpha val="90196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0" y="384048"/>
            <a:ext cx="256032" cy="6473952"/>
          </a:xfrm>
          <a:prstGeom prst="rect">
            <a:avLst/>
          </a:prstGeom>
          <a:solidFill>
            <a:srgbClr val="24C8DB">
              <a:alpha val="92157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256032" y="384048"/>
            <a:ext cx="11935663" cy="32004"/>
          </a:xfrm>
          <a:prstGeom prst="rect">
            <a:avLst/>
          </a:prstGeom>
          <a:solidFill>
            <a:srgbClr val="24C8DB">
              <a:alpha val="65098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685800" y="6400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4FBFF"/>
                </a:solidFill>
                <a:latin typeface="Play"/>
                <a:ea typeface="Play"/>
                <a:cs typeface="Play"/>
                <a:sym typeface="Play"/>
              </a:rPr>
              <a:t>COMPETITIVE ADVANTAGE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13232" y="120700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Why this project is still needed despite existing tools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85800" y="647395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FE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8CFE4"/>
                </a:solidFill>
                <a:latin typeface="Arial"/>
                <a:ea typeface="Arial"/>
                <a:cs typeface="Arial"/>
                <a:sym typeface="Arial"/>
              </a:rPr>
              <a:t>PatternScope AI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1210544" y="641908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822960" y="1691640"/>
            <a:ext cx="3383280" cy="2057400"/>
          </a:xfrm>
          <a:prstGeom prst="roundRect">
            <a:avLst>
              <a:gd fmla="val 5333" name="adj"/>
            </a:avLst>
          </a:prstGeom>
          <a:solidFill>
            <a:srgbClr val="0E3158"/>
          </a:solidFill>
          <a:ln cap="flat" cmpd="sng" w="13950">
            <a:solidFill>
              <a:srgbClr val="24C8D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987552" y="1847088"/>
            <a:ext cx="3054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70"/>
              <a:buFont typeface="Arial"/>
              <a:buNone/>
            </a:pPr>
            <a:r>
              <a:rPr b="1" i="0" lang="en-US" sz="127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Microsoft 365 / Mathpix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987552" y="2295144"/>
            <a:ext cx="3054096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Powerful existing solutions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Recurring subscription costs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Not always affordable for students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407408" y="1691640"/>
            <a:ext cx="3383280" cy="2057400"/>
          </a:xfrm>
          <a:prstGeom prst="roundRect">
            <a:avLst>
              <a:gd fmla="val 5333" name="adj"/>
            </a:avLst>
          </a:prstGeom>
          <a:solidFill>
            <a:srgbClr val="0E3158"/>
          </a:solidFill>
          <a:ln cap="flat" cmpd="sng" w="13950">
            <a:solidFill>
              <a:srgbClr val="24C8D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572000" y="1847088"/>
            <a:ext cx="3054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70"/>
              <a:buFont typeface="Arial"/>
              <a:buNone/>
            </a:pPr>
            <a:r>
              <a:rPr b="1" i="0" lang="en-US" sz="127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Apple Math Notes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572000" y="2295144"/>
            <a:ext cx="3054096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Free alternative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Useful for supported devices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Limited to the Apple ecosystem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991856" y="1691640"/>
            <a:ext cx="3383280" cy="2057400"/>
          </a:xfrm>
          <a:prstGeom prst="roundRect">
            <a:avLst>
              <a:gd fmla="val 5333" name="adj"/>
            </a:avLst>
          </a:prstGeom>
          <a:solidFill>
            <a:srgbClr val="0A2B4E"/>
          </a:solidFill>
          <a:ln cap="flat" cmpd="sng" w="13950">
            <a:solidFill>
              <a:srgbClr val="24C8D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156448" y="1847088"/>
            <a:ext cx="30540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70"/>
              <a:buFont typeface="Arial"/>
              <a:buNone/>
            </a:pPr>
            <a:r>
              <a:rPr b="1" i="0" lang="en-US" sz="127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PatternScope AI vision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156448" y="2295144"/>
            <a:ext cx="3054096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60"/>
              <a:buFont typeface="Arial"/>
              <a:buNone/>
            </a:pPr>
            <a:r>
              <a:rPr b="0" i="0" lang="en-US" sz="116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Device-independent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60"/>
              <a:buFont typeface="Arial"/>
              <a:buNone/>
            </a:pPr>
            <a:r>
              <a:rPr b="0" i="0" lang="en-US" sz="116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Free for academic users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60"/>
              <a:buFont typeface="Arial"/>
              <a:buNone/>
            </a:pPr>
            <a:r>
              <a:rPr b="0" i="0" lang="en-US" sz="116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Hosted on university infrastructure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60"/>
              <a:buFont typeface="Arial"/>
              <a:buNone/>
            </a:pPr>
            <a:r>
              <a:rPr b="0" i="0" lang="en-US" sz="116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Academic data remains local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874525" y="4251947"/>
            <a:ext cx="8458200" cy="1151400"/>
          </a:xfrm>
          <a:prstGeom prst="roundRect">
            <a:avLst>
              <a:gd fmla="val 12000" name="adj"/>
            </a:avLst>
          </a:prstGeom>
          <a:solidFill>
            <a:srgbClr val="0A2B4E"/>
          </a:solidFill>
          <a:ln cap="flat" cmpd="sng" w="13950">
            <a:solidFill>
              <a:srgbClr val="24C8D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2039112" y="4407408"/>
            <a:ext cx="8129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Positioning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039112" y="4855464"/>
            <a:ext cx="81290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A locally hosted academic platform designed for teaching, learning and knowledge reuse in Bosnian universities.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2E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/>
          <p:nvPr/>
        </p:nvSpPr>
        <p:spPr>
          <a:xfrm>
            <a:off x="256032" y="0"/>
            <a:ext cx="11935663" cy="384048"/>
          </a:xfrm>
          <a:prstGeom prst="rect">
            <a:avLst/>
          </a:prstGeom>
          <a:solidFill>
            <a:srgbClr val="24C8DB">
              <a:alpha val="90196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0" y="384048"/>
            <a:ext cx="256032" cy="6473952"/>
          </a:xfrm>
          <a:prstGeom prst="rect">
            <a:avLst/>
          </a:prstGeom>
          <a:solidFill>
            <a:srgbClr val="24C8DB">
              <a:alpha val="92157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256032" y="384048"/>
            <a:ext cx="11935663" cy="32004"/>
          </a:xfrm>
          <a:prstGeom prst="rect">
            <a:avLst/>
          </a:prstGeom>
          <a:solidFill>
            <a:srgbClr val="24C8DB">
              <a:alpha val="65098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685800" y="640080"/>
            <a:ext cx="10881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4FBFF"/>
                </a:solidFill>
                <a:latin typeface="Play"/>
                <a:ea typeface="Play"/>
                <a:cs typeface="Play"/>
                <a:sym typeface="Play"/>
              </a:rPr>
              <a:t>ROADMAP &amp; GRANT VISION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13232" y="1207008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From pattern recognition to a university-hosted academic platform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85800" y="647395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FE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8CFE4"/>
                </a:solidFill>
                <a:latin typeface="Arial"/>
                <a:ea typeface="Arial"/>
                <a:cs typeface="Arial"/>
                <a:sym typeface="Arial"/>
              </a:rPr>
              <a:t>PatternScope AI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1210544" y="641908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77240" y="1627632"/>
            <a:ext cx="2651760" cy="3291840"/>
          </a:xfrm>
          <a:prstGeom prst="roundRect">
            <a:avLst>
              <a:gd fmla="val 3448" name="adj"/>
            </a:avLst>
          </a:prstGeom>
          <a:solidFill>
            <a:srgbClr val="0A2B4E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914400" y="175564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914400" y="2103120"/>
            <a:ext cx="2377440" cy="2706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Current system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Digits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Shapes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Symbols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Per-model confidence scores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657600" y="1627632"/>
            <a:ext cx="2651760" cy="3291840"/>
          </a:xfrm>
          <a:prstGeom prst="roundRect">
            <a:avLst>
              <a:gd fmla="val 3448" name="adj"/>
            </a:avLst>
          </a:prstGeom>
          <a:solidFill>
            <a:srgbClr val="0E3158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3794760" y="175564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3794760" y="2103120"/>
            <a:ext cx="2377440" cy="2706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Element assembly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Full text recognition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Equation recognition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Vector drawing recognition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537960" y="1627632"/>
            <a:ext cx="2651760" cy="3291840"/>
          </a:xfrm>
          <a:prstGeom prst="roundRect">
            <a:avLst>
              <a:gd fmla="val 3448" name="adj"/>
            </a:avLst>
          </a:prstGeom>
          <a:solidFill>
            <a:srgbClr val="0E3158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6675120" y="175564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675120" y="2103120"/>
            <a:ext cx="2377440" cy="2706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Editable outputs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PDF export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LaTeX export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Reusable digital resources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9418320" y="1627632"/>
            <a:ext cx="2514600" cy="3291840"/>
          </a:xfrm>
          <a:prstGeom prst="roundRect">
            <a:avLst>
              <a:gd fmla="val 3636" name="adj"/>
            </a:avLst>
          </a:prstGeom>
          <a:solidFill>
            <a:srgbClr val="0A2B4E"/>
          </a:solidFill>
          <a:ln cap="flat" cmpd="sng" w="12700">
            <a:solidFill>
              <a:srgbClr val="24C8DB">
                <a:alpha val="7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9555480" y="1755648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130"/>
              <a:buFont typeface="Arial"/>
              <a:buNone/>
            </a:pPr>
            <a:r>
              <a:rPr b="1" i="0" lang="en-US" sz="113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LONG-TERM VISION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9555480" y="2103120"/>
            <a:ext cx="2240280" cy="2706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University of Sarajevo hosting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Government educational grants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Free access for academic users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F4FBFF"/>
                </a:solidFill>
                <a:latin typeface="Arial"/>
                <a:ea typeface="Arial"/>
                <a:cs typeface="Arial"/>
                <a:sym typeface="Arial"/>
              </a:rPr>
              <a:t>Local data protection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A2E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256032" y="0"/>
            <a:ext cx="11935663" cy="384048"/>
          </a:xfrm>
          <a:prstGeom prst="rect">
            <a:avLst/>
          </a:prstGeom>
          <a:solidFill>
            <a:srgbClr val="24C8DB">
              <a:alpha val="90196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0" y="384048"/>
            <a:ext cx="256032" cy="6473952"/>
          </a:xfrm>
          <a:prstGeom prst="rect">
            <a:avLst/>
          </a:prstGeom>
          <a:solidFill>
            <a:srgbClr val="24C8DB">
              <a:alpha val="92157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256032" y="384048"/>
            <a:ext cx="11935663" cy="32004"/>
          </a:xfrm>
          <a:prstGeom prst="rect">
            <a:avLst/>
          </a:prstGeom>
          <a:solidFill>
            <a:srgbClr val="24C8DB">
              <a:alpha val="65098"/>
            </a:srgbClr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987552" y="224028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BFF"/>
              </a:buClr>
              <a:buSzPts val="4000"/>
              <a:buFont typeface="Play"/>
              <a:buNone/>
            </a:pPr>
            <a:r>
              <a:rPr b="1" i="0" lang="en-US" sz="4000" u="none" cap="none" strike="noStrike">
                <a:solidFill>
                  <a:srgbClr val="F4FBFF"/>
                </a:solidFill>
                <a:latin typeface="Play"/>
                <a:ea typeface="Play"/>
                <a:cs typeface="Play"/>
                <a:sym typeface="Play"/>
              </a:rPr>
              <a:t>THANK YOU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987552" y="2944368"/>
            <a:ext cx="2423160" cy="32004"/>
          </a:xfrm>
          <a:prstGeom prst="rect">
            <a:avLst/>
          </a:prstGeom>
          <a:solidFill>
            <a:srgbClr val="24C8DB"/>
          </a:solidFill>
          <a:ln cap="flat" cmpd="sng" w="12700">
            <a:solidFill>
              <a:srgbClr val="24C8D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987552" y="340156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PATTERNSCOPE AI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987552" y="3813048"/>
            <a:ext cx="7680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FE4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8CFE4"/>
                </a:solidFill>
                <a:latin typeface="Arial"/>
                <a:ea typeface="Arial"/>
                <a:cs typeface="Arial"/>
                <a:sym typeface="Arial"/>
              </a:rPr>
              <a:t>From handwriting to reusable academic knowledge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85800" y="647395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FE4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8CFE4"/>
                </a:solidFill>
                <a:latin typeface="Arial"/>
                <a:ea typeface="Arial"/>
                <a:cs typeface="Arial"/>
                <a:sym typeface="Arial"/>
              </a:rPr>
              <a:t>PatternScope AI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1210544" y="641908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8E2E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8E2E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2026-09-18T10:31:57Z</dcterms:created>
  <dc:creator>OpenAI</dc:creator>
</cp:coreProperties>
</file>